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sldIdLst>
    <p:sldId id="279" r:id="rId2"/>
    <p:sldId id="340" r:id="rId3"/>
    <p:sldId id="352" r:id="rId4"/>
    <p:sldId id="353" r:id="rId5"/>
    <p:sldId id="347" r:id="rId6"/>
    <p:sldId id="348" r:id="rId7"/>
    <p:sldId id="349" r:id="rId8"/>
    <p:sldId id="30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및 목차" id="{FDA37AE7-6F61-4738-B58E-53D16F24D74C}">
          <p14:sldIdLst>
            <p14:sldId id="279"/>
          </p14:sldIdLst>
        </p14:section>
        <p14:section name="본문" id="{975B14FF-5963-4FA2-99F3-05B9EABDC627}">
          <p14:sldIdLst>
            <p14:sldId id="340"/>
            <p14:sldId id="352"/>
            <p14:sldId id="353"/>
            <p14:sldId id="347"/>
            <p14:sldId id="348"/>
            <p14:sldId id="349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DCF8"/>
    <a:srgbClr val="5894CF"/>
    <a:srgbClr val="EFF3F8"/>
    <a:srgbClr val="CFD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1" autoAdjust="0"/>
    <p:restoredTop sz="62886" autoAdjust="0"/>
  </p:normalViewPr>
  <p:slideViewPr>
    <p:cSldViewPr snapToGrid="0">
      <p:cViewPr varScale="1">
        <p:scale>
          <a:sx n="55" d="100"/>
          <a:sy n="55" d="100"/>
        </p:scale>
        <p:origin x="1620" y="21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7EF4DEA1-4F95-401F-9C1D-7F013E6FE5F6}" type="datetime1">
              <a:rPr lang="ko-KR" altLang="en-US"/>
              <a:pPr lvl="0"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6A3BD86-B9C4-48BB-B1BA-5BDB10AF190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00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표지입니다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768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3C001-C9BC-18FB-451E-AD75FB95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388AD5-FA16-D7AE-0D3C-1F0BDCDA1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0B76FB-AA72-F36B-33B5-34192CF77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운영체제는 사용자와 하드웨어 사이에서 프로그램 실행환경을 제공하는 핵심 소프트웨어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사용자는 인터페이스를 통해 운영체제 기능을 사용하고</a:t>
            </a:r>
            <a:r>
              <a:rPr lang="en-US" altLang="ko-KR" dirty="0"/>
              <a:t>, </a:t>
            </a:r>
            <a:r>
              <a:rPr lang="ko-KR" altLang="en-US" dirty="0"/>
              <a:t>프로그램은 시스템 호출을 통해 운영체제 서비스를 요청합니다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운영체제는 자원 관리</a:t>
            </a:r>
            <a:r>
              <a:rPr lang="en-US" altLang="ko-KR" dirty="0"/>
              <a:t>, </a:t>
            </a:r>
            <a:r>
              <a:rPr lang="ko-KR" altLang="en-US" dirty="0"/>
              <a:t>서비스 제공</a:t>
            </a:r>
            <a:r>
              <a:rPr lang="en-US" altLang="ko-KR" dirty="0"/>
              <a:t>, </a:t>
            </a:r>
            <a:r>
              <a:rPr lang="ko-KR" altLang="en-US" dirty="0"/>
              <a:t>구조 설계</a:t>
            </a:r>
            <a:r>
              <a:rPr lang="en-US" altLang="ko-KR" dirty="0"/>
              <a:t>, </a:t>
            </a:r>
            <a:r>
              <a:rPr lang="ko-KR" altLang="en-US" dirty="0"/>
              <a:t>부팅과 디버깅 등 다양한 역할을 수행합니다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 보통 </a:t>
            </a:r>
            <a:r>
              <a:rPr lang="ko-KR" altLang="en-US" dirty="0" err="1"/>
              <a:t>하드웨어라하면</a:t>
            </a:r>
            <a:r>
              <a:rPr lang="ko-KR" altLang="en-US" dirty="0"/>
              <a:t> 그림</a:t>
            </a:r>
            <a:r>
              <a:rPr lang="en-US" altLang="ko-KR" dirty="0"/>
              <a:t>1. </a:t>
            </a:r>
            <a:r>
              <a:rPr lang="ko-KR" altLang="en-US" dirty="0"/>
              <a:t>의 </a:t>
            </a:r>
            <a:r>
              <a:rPr lang="en-US" altLang="ko-KR" dirty="0"/>
              <a:t>I/O device </a:t>
            </a:r>
            <a:r>
              <a:rPr lang="ko-KR" altLang="en-US" dirty="0"/>
              <a:t>처럼 뭐 키보드</a:t>
            </a:r>
            <a:r>
              <a:rPr lang="en-US" altLang="ko-KR" dirty="0"/>
              <a:t>, </a:t>
            </a:r>
            <a:r>
              <a:rPr lang="ko-KR" altLang="en-US" dirty="0"/>
              <a:t>등을 이야기합니다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운영체제의 종류로는 그림</a:t>
            </a:r>
            <a:r>
              <a:rPr lang="en-US" altLang="ko-KR" dirty="0"/>
              <a:t>2. </a:t>
            </a:r>
            <a:r>
              <a:rPr lang="ko-KR" altLang="en-US" dirty="0"/>
              <a:t>를 보시면 이제 마이크로소프트가 개발한 윈도우 뭐 애플이 개발한 </a:t>
            </a:r>
            <a:r>
              <a:rPr lang="en-US" altLang="ko-KR" dirty="0"/>
              <a:t>MacOS </a:t>
            </a:r>
            <a:r>
              <a:rPr lang="ko-KR" altLang="en-US" dirty="0"/>
              <a:t>등 다양하게 존재합니다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C026C5-5491-D955-2E16-B52B9D449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86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8EDEA-6E88-38F6-7798-4FA402F7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EA8744-F4DB-CE97-421C-3D258AD41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B91111-3BCB-0115-5EAE-52564C20D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운영체제는 프로그램 실행 환경을 제공합니다</a:t>
            </a:r>
            <a:r>
              <a:rPr lang="en-US" altLang="ko-KR" dirty="0"/>
              <a:t>. </a:t>
            </a:r>
            <a:r>
              <a:rPr lang="ko-KR" altLang="en-US" dirty="0"/>
              <a:t>또한 프로그램과 그 프로그램의 사용자에게 특정 서비스를 제공하는데 이제 주요 서비스는 다음과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4284D-87A1-87C1-2ADD-C7A8152B5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037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1236-1E5E-E8F6-2DDE-B7E6392DB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3D509A-2A9B-9F49-C787-B7FDFA6F8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66D5B5-176C-5159-4870-685C184C5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사용자 인터페이스는 사람이 운영체제를 사용하는 방식입니다</a:t>
            </a:r>
            <a:r>
              <a:rPr lang="en-US" altLang="ko-KR" dirty="0"/>
              <a:t>. CLI </a:t>
            </a:r>
            <a:r>
              <a:rPr lang="ko-KR" altLang="en-US" dirty="0"/>
              <a:t>는 </a:t>
            </a:r>
            <a:r>
              <a:rPr lang="en-US" altLang="ko-KR" dirty="0"/>
              <a:t>Command-line interface </a:t>
            </a:r>
            <a:r>
              <a:rPr lang="ko-KR" altLang="en-US" dirty="0"/>
              <a:t>이고 명령어를 입력해서 작업하는 방식입니다 </a:t>
            </a:r>
            <a:r>
              <a:rPr lang="en-US" altLang="ko-KR" dirty="0"/>
              <a:t>GUI </a:t>
            </a:r>
            <a:r>
              <a:rPr lang="ko-KR" altLang="en-US" dirty="0"/>
              <a:t>는 </a:t>
            </a:r>
            <a:r>
              <a:rPr lang="en-US" altLang="ko-KR" dirty="0"/>
              <a:t>Graphic user interface</a:t>
            </a:r>
            <a:r>
              <a:rPr lang="ko-KR" altLang="en-US" dirty="0"/>
              <a:t> </a:t>
            </a:r>
            <a:r>
              <a:rPr lang="ko-KR" altLang="en-US" dirty="0" err="1"/>
              <a:t>의준말이고</a:t>
            </a:r>
            <a:r>
              <a:rPr lang="ko-KR" altLang="en-US" dirty="0"/>
              <a:t> 창</a:t>
            </a:r>
            <a:r>
              <a:rPr lang="en-US" altLang="ko-KR" dirty="0"/>
              <a:t>, </a:t>
            </a:r>
            <a:r>
              <a:rPr lang="ko-KR" altLang="en-US" dirty="0"/>
              <a:t>아이콘</a:t>
            </a:r>
            <a:r>
              <a:rPr lang="en-US" altLang="ko-KR" dirty="0"/>
              <a:t>, </a:t>
            </a:r>
            <a:r>
              <a:rPr lang="ko-KR" altLang="en-US" dirty="0"/>
              <a:t>메뉴</a:t>
            </a:r>
            <a:r>
              <a:rPr lang="en-US" altLang="ko-KR" dirty="0"/>
              <a:t>, </a:t>
            </a:r>
            <a:r>
              <a:rPr lang="ko-KR" altLang="en-US" dirty="0"/>
              <a:t>포인팅 장치를 이용하는 사용자 친화적 인터페이스입니다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API </a:t>
            </a:r>
            <a:r>
              <a:rPr lang="ko-KR" altLang="en-US" dirty="0"/>
              <a:t>는 응용 프로그래밍 인터페이스라는 뜻인데 운영체제가 제공하는 라이브러리르 통해 활용하게 됩니다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E6102A-B070-F147-4653-64BDDD1E0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286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2B38-5150-879A-86F8-23576923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9F8EF4-FDE1-EA07-A1ED-E89931DB6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3E107B-0CD1-EF32-9CCA-2117791DF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E3231B-5CD2-F478-7E48-FD849FC69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938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884E7-6EF3-9CD5-EA4B-DE96A014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178784-3136-E1B9-D50C-9BC16CFCA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4EB7A-D325-2C10-CB34-3484E511E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Monolithic: </a:t>
            </a:r>
            <a:r>
              <a:rPr lang="ko-KR" altLang="en-US" dirty="0"/>
              <a:t>빠르지만 복잡함</a:t>
            </a:r>
          </a:p>
          <a:p>
            <a:r>
              <a:rPr lang="en-US" altLang="ko-KR" dirty="0"/>
              <a:t>Layered: </a:t>
            </a:r>
            <a:r>
              <a:rPr lang="ko-KR" altLang="en-US" dirty="0"/>
              <a:t>구조가 명확하지만 오버헤드 존재</a:t>
            </a:r>
          </a:p>
          <a:p>
            <a:r>
              <a:rPr lang="en-US" altLang="ko-KR" dirty="0"/>
              <a:t>Microkernel: </a:t>
            </a:r>
            <a:r>
              <a:rPr lang="ko-KR" altLang="en-US" dirty="0"/>
              <a:t>안정성과 확장성이 좋지만 통신 비용이 큼</a:t>
            </a:r>
          </a:p>
          <a:p>
            <a:r>
              <a:rPr lang="en-US" altLang="ko-KR" dirty="0"/>
              <a:t>Modules/Hybrid: </a:t>
            </a:r>
            <a:r>
              <a:rPr lang="ko-KR" altLang="en-US" dirty="0"/>
              <a:t>현실적으로 가장 많이 쓰이는 절충형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80413-A9FE-E8F0-9893-1A3F4213A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494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4090E-37EA-FD6A-5FE6-27C70525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B9C0C3-C33B-78D9-47A6-3B036F07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7D083D-9A5E-E0CA-200D-2648624C6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운영체제는 실행 중에는 오류를 감시하고 성능을 조정하며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시작 시에는 부팅 과정을 통해 커널을 메모리에 적재해 전체 시스템을 준비시킨다</a:t>
            </a:r>
            <a:r>
              <a:rPr lang="en-US" altLang="ko-KR" dirty="0"/>
              <a:t>.</a:t>
            </a:r>
          </a:p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7F98B1-FA31-804B-BA09-415F5FC9E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949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485D-E9FE-857B-EC58-5E9007CB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6A9DB-FA96-AAC9-D608-30D1596DE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DA60FC-0C69-A098-0239-8ADC5A77B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163B7-3C27-6E75-1A70-C9B8E462D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3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2956B-0C3C-852C-B055-5CB40CF2F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754C56-0957-D194-C5B0-07C7E103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F57B55-CDF9-992F-5783-0FF1F0B6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94891-C176-45C6-952F-6646066BB07A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A30A4-C742-50C8-6379-D28E538A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58673-A6DC-13D7-43FE-D07CFEF7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694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1F0C6-987E-1AC2-64B4-1AF6D371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68E92-D2C2-F52D-B389-C1FEB110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59ABB-B485-D618-9EE9-2BC230D3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7154-35AB-4BEF-ABD2-72B454421146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F0190-262E-2FD8-D981-3A8F1F1D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0314E-3927-BEDC-4B85-CA16468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62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D1540-916B-07D3-C5AD-FB2255A2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179CCB-C75D-6A71-7763-0373C453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F948A-8D46-AC36-3798-C7867AFA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7E407-6B96-4B20-A56B-622FAA2C9F1E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B05C6-0C2E-04C9-0174-EDECFBA4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6BC61-3008-89A8-FBC5-FDAF45F4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13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AEDAA-618F-A914-0695-D2462BAB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B0354-ADD3-8D1D-4EC6-61EE1B4AC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4AFE95-07F0-600C-1583-7E0A3E47F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6415E8-CA46-1B9B-76BE-DB60D312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3554E-5C37-432E-B5B0-5F06A10FB84D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15974F-127F-D9AB-D668-5FE4337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D50977-824B-4983-B3BA-A6FC671E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89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96F08-003F-BF29-7BB0-A0494445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57A8E-F1EA-34A6-E3CB-5FFEFDA1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4F483E-9C2C-2094-3BB3-8125BC2F1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06055-2830-8B4B-3413-5989B4F60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D53929-2676-8200-7230-282F3D0C9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4F5E7B-19FC-8175-C727-DF96B1FD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B1258-8CD3-4C4C-96C6-E0292624AFA2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214392-34B2-A6F2-3837-ADAD09F7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2D480-1EE2-B60F-C95A-8746614E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08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EEBC5-F9E3-5640-21CE-59A60C0D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27D95B-6352-EA92-6B53-5D072EEE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ECE2-7E19-4C0D-9ADC-E9A8A6CBE1B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E7AC26-5A62-C72A-C7D6-B059660A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4367A1-F668-0598-E448-87387E75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F2DF15-AB9A-D820-AAEA-CBE25BE6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15E5-75A1-418B-B4F5-C9812F71A2D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01B0F7-0F98-58AD-0342-CFE93184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C5E35-2816-4483-AB2E-8E164C5F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82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3CC7-64F7-D429-016C-99460E6C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2C9F9-4019-0DCA-3FFB-A3CA8BCDC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EE260F-5013-2151-73C6-4F27BE997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BFEC57-9F8A-F534-E927-6760AFDD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838-9398-4F49-8728-9E6AB80DF08A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40A817-99EC-1D59-75F4-809A7507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2DF34A-476F-BF96-7311-6B4D8261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6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C8B1A-417D-ADA8-1BEE-9BD38DEB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BF7120-5B97-82CC-155D-8213482E7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ACCB2D-97AB-5C53-6607-6731FE1F4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153058-A4DF-1B66-6EB6-D8C8BEA0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F419-0948-4C2B-97E0-7038E3D15E6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4040E-C70B-BA68-2DB4-ABF9C53E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48A0C-86E2-6D41-222B-572A197E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4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9D14E-E543-F593-6CC1-BD6CC355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0484E-5422-78B8-E877-0475FD5C6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E8AF8-25D2-166A-D326-A86E382A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84535-2B26-40AE-98B0-725BE7CC6FA8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CE361F-2780-AD8A-029E-27E33A36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BA2F8-9DB4-FEDA-DD9F-9F0812A6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95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7A2B6-E224-0B8A-BDF1-59299E9F6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BF8073-A0B6-5B24-E943-A57301429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6A38AC-9DA6-7551-F085-B8824922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1038-2E04-4EFF-AFD3-D1E32DD6BF0A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15644-2DCD-2C0A-3480-77315DCF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0B2EDC-778D-2E2A-6876-92D46760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D7C59B-BBE3-61EA-2905-089A995D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13C405-9A39-3549-2FC6-FBEC6ED2D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BDCCC-6AB8-9DCE-19E0-776B6902A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B48B8-B1C4-4561-8293-340E4E89454A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8D623D-FDA4-EDC8-2100-0EC35EE67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F22241-4D0D-9BC7-9FBF-EC5586BFC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79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1974375-594D-C885-604A-829A29D597A8}"/>
              </a:ext>
            </a:extLst>
          </p:cNvPr>
          <p:cNvSpPr/>
          <p:nvPr/>
        </p:nvSpPr>
        <p:spPr>
          <a:xfrm>
            <a:off x="-9144" y="1316736"/>
            <a:ext cx="905256" cy="2559622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C987450-0F83-E579-3FA6-46E1D8B169AD}"/>
              </a:ext>
            </a:extLst>
          </p:cNvPr>
          <p:cNvCxnSpPr>
            <a:cxnSpLocks/>
          </p:cNvCxnSpPr>
          <p:nvPr/>
        </p:nvCxnSpPr>
        <p:spPr>
          <a:xfrm>
            <a:off x="1395984" y="1316736"/>
            <a:ext cx="8681466" cy="0"/>
          </a:xfrm>
          <a:prstGeom prst="line">
            <a:avLst/>
          </a:prstGeom>
          <a:ln>
            <a:solidFill>
              <a:srgbClr val="589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258" y="1806599"/>
            <a:ext cx="118437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4800" b="1" dirty="0">
                <a:latin typeface="HY헤드라인M"/>
                <a:ea typeface="HY헤드라인M"/>
              </a:rPr>
              <a:t>운영체제 시스템 구조</a:t>
            </a:r>
            <a:endParaRPr lang="en-US" altLang="ko-KR" sz="4800" b="1" dirty="0">
              <a:latin typeface="HY헤드라인M"/>
              <a:ea typeface="HY헤드라인M"/>
            </a:endParaRPr>
          </a:p>
        </p:txBody>
      </p:sp>
      <p:pic>
        <p:nvPicPr>
          <p:cNvPr id="2050" name="Picture 2" descr="한국산업기술대학교, 한국공학대학교로 교명 변경하고 비전 선포식 개최-아이씨엔매거진">
            <a:extLst>
              <a:ext uri="{FF2B5EF4-FFF2-40B4-BE49-F238E27FC236}">
                <a16:creationId xmlns:a16="http://schemas.microsoft.com/office/drawing/2014/main" id="{7E8C4C53-107D-6AFD-66B5-0628321DC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228601"/>
            <a:ext cx="2340864" cy="75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부제목 2">
            <a:extLst>
              <a:ext uri="{FF2B5EF4-FFF2-40B4-BE49-F238E27FC236}">
                <a16:creationId xmlns:a16="http://schemas.microsoft.com/office/drawing/2014/main" id="{1BB59771-5702-CD3B-1CE0-1CB4FE508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0427"/>
            <a:ext cx="10052304" cy="2499360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2026-</a:t>
            </a:r>
            <a:r>
              <a:rPr lang="en-US" altLang="ko-KR" sz="2000" dirty="0">
                <a:latin typeface="+mj-ea"/>
                <a:ea typeface="+mj-ea"/>
              </a:rPr>
              <a:t>03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-18</a:t>
            </a:r>
          </a:p>
          <a:p>
            <a:pPr lvl="0">
              <a:defRPr/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이희준</a:t>
            </a:r>
            <a:endParaRPr lang="ko-KR" altLang="en-US" sz="20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2000" dirty="0">
                <a:latin typeface="+mj-ea"/>
                <a:ea typeface="+mj-ea"/>
              </a:rPr>
              <a:t>gmlwns2279@tukorea.ac.kr</a:t>
            </a:r>
          </a:p>
          <a:p>
            <a:pPr lvl="0">
              <a:defRPr/>
            </a:pPr>
            <a:r>
              <a:rPr lang="en-US" altLang="ko-KR" sz="2000" b="0" i="0" dirty="0">
                <a:solidFill>
                  <a:schemeClr val="tx1"/>
                </a:solidFill>
                <a:effectLst/>
                <a:highlight>
                  <a:srgbClr val="FDFDFD"/>
                </a:highlight>
                <a:latin typeface="+mj-ea"/>
                <a:ea typeface="+mj-ea"/>
              </a:rPr>
              <a:t>Dept. of IT Semiconductor Convergence Engineering, TUK</a:t>
            </a:r>
          </a:p>
          <a:p>
            <a:pPr lvl="0">
              <a:defRPr/>
            </a:pPr>
            <a:r>
              <a:rPr lang="en-US" altLang="ko-KR" sz="2000" dirty="0">
                <a:latin typeface="+mj-ea"/>
                <a:ea typeface="+mj-ea"/>
              </a:rPr>
              <a:t>Intelligent Connected-Things (</a:t>
            </a:r>
            <a:r>
              <a:rPr lang="en-US" altLang="ko-KR" sz="2000" dirty="0" err="1">
                <a:latin typeface="+mj-ea"/>
                <a:ea typeface="+mj-ea"/>
              </a:rPr>
              <a:t>ICon</a:t>
            </a:r>
            <a:r>
              <a:rPr lang="en-US" altLang="ko-KR" sz="2000" dirty="0">
                <a:latin typeface="+mj-ea"/>
                <a:ea typeface="+mj-ea"/>
              </a:rPr>
              <a:t>) Lab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6275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BD88-A7AE-2D43-3A34-2F55825C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9EB4DC-ECC9-F0B0-8123-C6F22E8ADB2E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87EBAC-2972-B266-9C82-781154255395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BF655B-43CE-DDB4-8DEC-6207CFC338F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3E3239-6B57-FADD-8474-191CED8AD773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운영체제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1C23A-DC8B-055B-81E5-531837AAF183}"/>
              </a:ext>
            </a:extLst>
          </p:cNvPr>
          <p:cNvSpPr txBox="1"/>
          <p:nvPr/>
        </p:nvSpPr>
        <p:spPr>
          <a:xfrm>
            <a:off x="305273" y="1254369"/>
            <a:ext cx="1045651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운영체제는 사용자와 하드웨어 사이에서 프로그램 실행환경을 제공하는 핵심 소프트웨어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28E1C-E767-29C2-D527-6D7A36EB852A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운영체제</a:t>
            </a:r>
            <a:r>
              <a:rPr lang="en-US" altLang="ko-KR" sz="2400" b="1" dirty="0"/>
              <a:t>(Operating System)</a:t>
            </a:r>
            <a:endParaRPr lang="ko-KR" altLang="en-US" sz="2400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D9151B6-30DD-429C-C5FA-66F2518B6B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2"/>
          <a:stretch>
            <a:fillRect/>
          </a:stretch>
        </p:blipFill>
        <p:spPr bwMode="auto">
          <a:xfrm>
            <a:off x="291801" y="1597667"/>
            <a:ext cx="4634470" cy="414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일 1CS] 운영체제란 무엇인가!">
            <a:extLst>
              <a:ext uri="{FF2B5EF4-FFF2-40B4-BE49-F238E27FC236}">
                <a16:creationId xmlns:a16="http://schemas.microsoft.com/office/drawing/2014/main" id="{EFF4A441-F8DE-2582-5802-B739A41A7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478" y="1623701"/>
            <a:ext cx="6487315" cy="409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696F50-B9FB-25D5-A0F2-B20077447ACC}"/>
              </a:ext>
            </a:extLst>
          </p:cNvPr>
          <p:cNvSpPr txBox="1"/>
          <p:nvPr/>
        </p:nvSpPr>
        <p:spPr>
          <a:xfrm>
            <a:off x="6940748" y="5848588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2. </a:t>
            </a:r>
            <a:r>
              <a:rPr lang="ko-KR" altLang="en-US" b="1" dirty="0"/>
              <a:t>운영체제의 종류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B622D-41D6-8377-3198-6AD8FEFDFBC3}"/>
              </a:ext>
            </a:extLst>
          </p:cNvPr>
          <p:cNvSpPr txBox="1"/>
          <p:nvPr/>
        </p:nvSpPr>
        <p:spPr>
          <a:xfrm>
            <a:off x="1004121" y="5848588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1. </a:t>
            </a:r>
            <a:r>
              <a:rPr lang="ko-KR" altLang="en-US" b="1" dirty="0"/>
              <a:t>컴퓨터 시스템 구조</a:t>
            </a:r>
          </a:p>
        </p:txBody>
      </p:sp>
    </p:spTree>
    <p:extLst>
      <p:ext uri="{BB962C8B-B14F-4D97-AF65-F5344CB8AC3E}">
        <p14:creationId xmlns:p14="http://schemas.microsoft.com/office/powerpoint/2010/main" val="321061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65C7-21BC-AAB9-C620-C96F5CA8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70E946-080C-632C-BFF7-5D163346FA7D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0EE250-6378-4053-DF7C-F021A51349AA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C693EB-A928-18A4-CD03-68F4206D8CE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1A56D0-CC63-42F7-41CB-F73FF17BA2E0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운영체제가 제공하는 서비스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F3DEF-732C-D9FB-586E-4728219D9A47}"/>
              </a:ext>
            </a:extLst>
          </p:cNvPr>
          <p:cNvSpPr txBox="1"/>
          <p:nvPr/>
        </p:nvSpPr>
        <p:spPr>
          <a:xfrm>
            <a:off x="305274" y="1254369"/>
            <a:ext cx="11486132" cy="25545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사용자 인터페이스 제공 </a:t>
            </a:r>
            <a:r>
              <a:rPr lang="en-US" altLang="ko-KR" sz="2000" dirty="0"/>
              <a:t>: CLI, GUI, </a:t>
            </a:r>
            <a:r>
              <a:rPr lang="ko-KR" altLang="en-US" sz="2000" dirty="0"/>
              <a:t>배치 인터페이스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프로그램</a:t>
            </a:r>
            <a:r>
              <a:rPr lang="ko-KR" altLang="en-US" sz="2000" dirty="0"/>
              <a:t> </a:t>
            </a:r>
            <a:r>
              <a:rPr lang="ko-KR" altLang="en-US" sz="2000" b="1" dirty="0"/>
              <a:t>실행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프로그램 적재</a:t>
            </a:r>
            <a:r>
              <a:rPr lang="en-US" altLang="ko-KR" sz="2000" dirty="0"/>
              <a:t>, </a:t>
            </a:r>
            <a:r>
              <a:rPr lang="ko-KR" altLang="en-US" sz="2000" dirty="0"/>
              <a:t>실행</a:t>
            </a:r>
            <a:r>
              <a:rPr lang="en-US" altLang="ko-KR" sz="2000" dirty="0"/>
              <a:t>, </a:t>
            </a:r>
            <a:r>
              <a:rPr lang="ko-KR" altLang="en-US" sz="2000" dirty="0"/>
              <a:t>종료 처리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입출력 연산 </a:t>
            </a:r>
            <a:r>
              <a:rPr lang="en-US" altLang="ko-KR" sz="2000" dirty="0"/>
              <a:t>: </a:t>
            </a:r>
            <a:r>
              <a:rPr lang="ko-KR" altLang="en-US" sz="2000" dirty="0"/>
              <a:t>사용자가 직접 장치를 제어하지 않고 운영체제가 대행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파일 시스템 연산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파일 생성</a:t>
            </a:r>
            <a:r>
              <a:rPr lang="en-US" altLang="ko-KR" sz="2000" dirty="0"/>
              <a:t>, </a:t>
            </a:r>
            <a:r>
              <a:rPr lang="ko-KR" altLang="en-US" sz="2000" dirty="0"/>
              <a:t>삭제</a:t>
            </a:r>
            <a:r>
              <a:rPr lang="en-US" altLang="ko-KR" sz="2000" dirty="0"/>
              <a:t>, </a:t>
            </a:r>
            <a:r>
              <a:rPr lang="ko-KR" altLang="en-US" sz="2000" dirty="0"/>
              <a:t>읽기</a:t>
            </a:r>
            <a:r>
              <a:rPr lang="en-US" altLang="ko-KR" sz="2000" dirty="0"/>
              <a:t>/</a:t>
            </a:r>
            <a:r>
              <a:rPr lang="ko-KR" altLang="en-US" sz="2000" dirty="0"/>
              <a:t>쓰기</a:t>
            </a:r>
            <a:r>
              <a:rPr lang="en-US" altLang="ko-KR" sz="2000" dirty="0"/>
              <a:t>, </a:t>
            </a:r>
            <a:r>
              <a:rPr lang="ko-KR" altLang="en-US" sz="2000" dirty="0"/>
              <a:t>검색</a:t>
            </a:r>
            <a:r>
              <a:rPr lang="en-US" altLang="ko-KR" sz="2000" dirty="0"/>
              <a:t>, </a:t>
            </a:r>
            <a:r>
              <a:rPr lang="ko-KR" altLang="en-US" sz="2000" dirty="0"/>
              <a:t>접근권한 관리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통신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프로세스 간 정보 교환 지원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오류 탐지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하드웨어</a:t>
            </a:r>
            <a:r>
              <a:rPr lang="en-US" altLang="ko-KR" sz="2000" dirty="0"/>
              <a:t>,</a:t>
            </a:r>
            <a:r>
              <a:rPr lang="ko-KR" altLang="en-US" sz="2000" dirty="0"/>
              <a:t>메모리</a:t>
            </a:r>
            <a:r>
              <a:rPr lang="en-US" altLang="ko-KR" sz="2000" dirty="0"/>
              <a:t>,</a:t>
            </a:r>
            <a:r>
              <a:rPr lang="ko-KR" altLang="en-US" sz="2000" dirty="0"/>
              <a:t>입출력</a:t>
            </a:r>
            <a:r>
              <a:rPr lang="en-US" altLang="ko-KR" sz="2000" dirty="0"/>
              <a:t>,</a:t>
            </a:r>
            <a:r>
              <a:rPr lang="ko-KR" altLang="en-US" sz="2000" dirty="0"/>
              <a:t>프로그램 오류에 대응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시스템 차원 서비스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자원 할당</a:t>
            </a:r>
            <a:r>
              <a:rPr lang="en-US" altLang="ko-KR" sz="2000" dirty="0"/>
              <a:t>, </a:t>
            </a:r>
            <a:r>
              <a:rPr lang="ko-KR" altLang="en-US" sz="2000" dirty="0"/>
              <a:t>회계</a:t>
            </a:r>
            <a:r>
              <a:rPr lang="en-US" altLang="ko-KR" sz="2000" dirty="0"/>
              <a:t>, </a:t>
            </a:r>
            <a:r>
              <a:rPr lang="ko-KR" altLang="en-US" sz="2000" dirty="0"/>
              <a:t>보호와 보안</a:t>
            </a:r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A832B-1031-3FE6-B309-CA98EEA5F0F3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주요 서비스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A406C8D-1CE7-1A06-0AD4-BE1C357A1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58" y="3532061"/>
            <a:ext cx="4983465" cy="23947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06A85C-9F8D-2569-04F6-38449F0D9002}"/>
              </a:ext>
            </a:extLst>
          </p:cNvPr>
          <p:cNvSpPr txBox="1"/>
          <p:nvPr/>
        </p:nvSpPr>
        <p:spPr>
          <a:xfrm>
            <a:off x="1457204" y="6108772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3. </a:t>
            </a:r>
            <a:r>
              <a:rPr lang="ko-KR" altLang="en-US" b="1" dirty="0"/>
              <a:t>파일 이동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70B5243-E121-8C7D-44F3-85513362F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907" y="3545620"/>
            <a:ext cx="5906942" cy="17488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0CB2BC-EE63-4C1A-DCE4-761DE9F63D5C}"/>
              </a:ext>
            </a:extLst>
          </p:cNvPr>
          <p:cNvSpPr txBox="1"/>
          <p:nvPr/>
        </p:nvSpPr>
        <p:spPr>
          <a:xfrm>
            <a:off x="7180991" y="6108772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4. </a:t>
            </a:r>
            <a:r>
              <a:rPr lang="ko-KR" altLang="en-US" b="1" dirty="0"/>
              <a:t>파일 시스템 연산</a:t>
            </a:r>
          </a:p>
        </p:txBody>
      </p:sp>
    </p:spTree>
    <p:extLst>
      <p:ext uri="{BB962C8B-B14F-4D97-AF65-F5344CB8AC3E}">
        <p14:creationId xmlns:p14="http://schemas.microsoft.com/office/powerpoint/2010/main" val="1479009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AF55-127A-3AE6-E314-80B090F86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27868A-3A9B-4BA5-921B-78D083D173BB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99C201-EEF9-801B-622E-4F89C3575152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08A210-EA02-7462-6067-2529C6F710D1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FA5002-5B6D-B4E5-2A82-CE47A5EC22E8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시스템 호출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E86E1-3662-D55E-1180-2865956C5ABB}"/>
              </a:ext>
            </a:extLst>
          </p:cNvPr>
          <p:cNvSpPr txBox="1"/>
          <p:nvPr/>
        </p:nvSpPr>
        <p:spPr>
          <a:xfrm>
            <a:off x="305273" y="1254369"/>
            <a:ext cx="11390337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사용자 인터페이스 제공 </a:t>
            </a:r>
            <a:r>
              <a:rPr lang="en-US" altLang="ko-KR" dirty="0"/>
              <a:t>: CLI, GUI, </a:t>
            </a:r>
            <a:r>
              <a:rPr lang="ko-KR" altLang="en-US" dirty="0"/>
              <a:t>배치 인터페이스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CLI</a:t>
            </a:r>
            <a:r>
              <a:rPr lang="en-US" altLang="ko-KR" dirty="0"/>
              <a:t> </a:t>
            </a:r>
            <a:r>
              <a:rPr lang="ko-KR" altLang="en-US" dirty="0"/>
              <a:t>는 빠르고 효율적</a:t>
            </a:r>
            <a:r>
              <a:rPr lang="en-US" altLang="ko-KR" dirty="0"/>
              <a:t>, </a:t>
            </a:r>
            <a:r>
              <a:rPr lang="en-US" altLang="ko-KR" b="1" dirty="0"/>
              <a:t>GUI</a:t>
            </a:r>
            <a:r>
              <a:rPr lang="en-US" altLang="ko-KR" dirty="0"/>
              <a:t> </a:t>
            </a:r>
            <a:r>
              <a:rPr lang="ko-KR" altLang="en-US" dirty="0"/>
              <a:t>는 사용하기 쉽고 직관적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시스템 호출은 운영체제가 제공하는 서비스에 대한 </a:t>
            </a:r>
            <a:r>
              <a:rPr lang="ko-KR" altLang="en-US" b="1" dirty="0"/>
              <a:t>프로그래밍</a:t>
            </a:r>
            <a:r>
              <a:rPr lang="ko-KR" altLang="en-US" dirty="0"/>
              <a:t> </a:t>
            </a:r>
            <a:r>
              <a:rPr lang="ko-KR" altLang="en-US" b="1" dirty="0"/>
              <a:t>인터페이스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응용 프로그램은 보통 직접 시스템 호출을 쓰기보다 </a:t>
            </a:r>
            <a:r>
              <a:rPr lang="en-US" altLang="ko-KR" dirty="0"/>
              <a:t>API </a:t>
            </a:r>
            <a:r>
              <a:rPr lang="ko-KR" altLang="en-US" dirty="0"/>
              <a:t>를 통해 운영체제 기능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대표적인 </a:t>
            </a:r>
            <a:r>
              <a:rPr lang="en-US" altLang="ko-KR" dirty="0"/>
              <a:t>API</a:t>
            </a:r>
            <a:r>
              <a:rPr lang="ko-KR" altLang="en-US" dirty="0"/>
              <a:t> 는 </a:t>
            </a:r>
            <a:r>
              <a:rPr lang="en-US" altLang="ko-KR" b="1" dirty="0"/>
              <a:t>Windows API, POSIX API </a:t>
            </a:r>
            <a:r>
              <a:rPr lang="ko-KR" altLang="en-US" dirty="0"/>
              <a:t>등 존재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E9EF6-9A18-6FFC-CAFB-9AF8E8DCA216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사용자 인터페이스와 시스템 호출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2F6BD4-014D-E515-398F-A95B80A00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57" y="3429000"/>
            <a:ext cx="5233851" cy="27030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3B96313-8C60-F4DB-8035-30E2048A4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286" y="3429000"/>
            <a:ext cx="4960657" cy="2703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0095CF-EEAD-4FED-7253-8E7FE0F84603}"/>
              </a:ext>
            </a:extLst>
          </p:cNvPr>
          <p:cNvSpPr txBox="1"/>
          <p:nvPr/>
        </p:nvSpPr>
        <p:spPr>
          <a:xfrm>
            <a:off x="1457204" y="6108772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4. CLI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3BB78-2C06-05FD-9E45-9830F51BF428}"/>
              </a:ext>
            </a:extLst>
          </p:cNvPr>
          <p:cNvSpPr txBox="1"/>
          <p:nvPr/>
        </p:nvSpPr>
        <p:spPr>
          <a:xfrm>
            <a:off x="7498025" y="6108772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5. GUI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8442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D1E37-4240-DC1B-EB71-DCFEB4EF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2F4F84-9133-E85D-E977-427962E97D93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1D4F7B-4E04-1597-5843-8F7D6C552A23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3A1470-AAA1-BD6B-FFC2-C2D6D064E97B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4CC117-87BC-76A5-A558-FDDA7E5D614A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시스템 호출의 동작 방식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C3429-DB66-2D83-0C91-26F4D50B7740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시스템 호출의 동작 방식과 유형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24218F-4B20-C835-4298-6CDB894BDC12}"/>
              </a:ext>
            </a:extLst>
          </p:cNvPr>
          <p:cNvSpPr txBox="1"/>
          <p:nvPr/>
        </p:nvSpPr>
        <p:spPr>
          <a:xfrm>
            <a:off x="305273" y="1254369"/>
            <a:ext cx="11390337" cy="45243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시스템 호출 동작 방식</a:t>
            </a:r>
            <a:endParaRPr lang="en-US" altLang="ko-KR" b="1" dirty="0"/>
          </a:p>
          <a:p>
            <a:endParaRPr lang="en-US" altLang="ko-KR" b="1" dirty="0"/>
          </a:p>
          <a:p>
            <a:pPr algn="ctr"/>
            <a:r>
              <a:rPr lang="ko-KR" altLang="en-US" b="1" dirty="0"/>
              <a:t>프로그램 요청 → 시스템 호출 인터페이스 → 커널 기능 실행 →결과 반환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r>
              <a:rPr lang="ko-KR" altLang="en-US" b="1" dirty="0"/>
              <a:t>시스템 호출 유형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사용자 인터페이스 제공 </a:t>
            </a:r>
            <a:r>
              <a:rPr lang="en-US" altLang="ko-KR" dirty="0"/>
              <a:t>: </a:t>
            </a:r>
            <a:r>
              <a:rPr lang="ko-KR" altLang="en-US" dirty="0"/>
              <a:t>생성</a:t>
            </a:r>
            <a:r>
              <a:rPr lang="en-US" altLang="ko-KR" dirty="0"/>
              <a:t>, </a:t>
            </a:r>
            <a:r>
              <a:rPr lang="ko-KR" altLang="en-US" dirty="0"/>
              <a:t>실행</a:t>
            </a:r>
            <a:r>
              <a:rPr lang="en-US" altLang="ko-KR" dirty="0"/>
              <a:t>, </a:t>
            </a:r>
            <a:r>
              <a:rPr lang="ko-KR" altLang="en-US" dirty="0"/>
              <a:t>종료</a:t>
            </a:r>
            <a:r>
              <a:rPr lang="en-US" altLang="ko-KR" dirty="0"/>
              <a:t>, </a:t>
            </a:r>
            <a:r>
              <a:rPr lang="ko-KR" altLang="en-US" dirty="0"/>
              <a:t>메모리 할당</a:t>
            </a:r>
            <a:r>
              <a:rPr lang="en-US" altLang="ko-KR" dirty="0"/>
              <a:t>, </a:t>
            </a:r>
            <a:r>
              <a:rPr lang="ko-KR" altLang="en-US" dirty="0"/>
              <a:t>대기 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파일 관리 </a:t>
            </a:r>
            <a:r>
              <a:rPr lang="en-US" altLang="ko-KR" dirty="0"/>
              <a:t>:</a:t>
            </a:r>
            <a:r>
              <a:rPr lang="ko-KR" altLang="en-US" dirty="0"/>
              <a:t> 생성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열기</a:t>
            </a:r>
            <a:r>
              <a:rPr lang="en-US" altLang="ko-KR" dirty="0"/>
              <a:t>, </a:t>
            </a:r>
            <a:r>
              <a:rPr lang="ko-KR" altLang="en-US" dirty="0"/>
              <a:t>닫기</a:t>
            </a:r>
            <a:r>
              <a:rPr lang="en-US" altLang="ko-KR" dirty="0"/>
              <a:t>, </a:t>
            </a:r>
            <a:r>
              <a:rPr lang="ko-KR" altLang="en-US" dirty="0"/>
              <a:t>읽기</a:t>
            </a:r>
            <a:r>
              <a:rPr lang="en-US" altLang="ko-KR" dirty="0"/>
              <a:t>, </a:t>
            </a:r>
            <a:r>
              <a:rPr lang="ko-KR" altLang="en-US" dirty="0"/>
              <a:t>쓰기</a:t>
            </a:r>
            <a:r>
              <a:rPr lang="en-US" altLang="ko-KR" dirty="0"/>
              <a:t>, </a:t>
            </a:r>
            <a:r>
              <a:rPr lang="ko-KR" altLang="en-US" dirty="0"/>
              <a:t>위치 변경 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장치 관리 </a:t>
            </a:r>
            <a:r>
              <a:rPr lang="en-US" altLang="ko-KR" dirty="0"/>
              <a:t>: </a:t>
            </a:r>
            <a:r>
              <a:rPr lang="ko-KR" altLang="en-US" dirty="0"/>
              <a:t>장치 요청</a:t>
            </a:r>
            <a:r>
              <a:rPr lang="en-US" altLang="ko-KR" dirty="0"/>
              <a:t>, </a:t>
            </a:r>
            <a:r>
              <a:rPr lang="ko-KR" altLang="en-US" dirty="0"/>
              <a:t>반납</a:t>
            </a:r>
            <a:r>
              <a:rPr lang="en-US" altLang="ko-KR" dirty="0"/>
              <a:t>, </a:t>
            </a:r>
            <a:r>
              <a:rPr lang="ko-KR" altLang="en-US" dirty="0"/>
              <a:t>읽기</a:t>
            </a:r>
            <a:r>
              <a:rPr lang="en-US" altLang="ko-KR" dirty="0"/>
              <a:t>/</a:t>
            </a:r>
            <a:r>
              <a:rPr lang="ko-KR" altLang="en-US" dirty="0"/>
              <a:t>쓰기</a:t>
            </a:r>
            <a:r>
              <a:rPr lang="en-US" altLang="ko-KR" dirty="0"/>
              <a:t>, </a:t>
            </a:r>
            <a:r>
              <a:rPr lang="ko-KR" altLang="en-US" dirty="0"/>
              <a:t>속성 설정 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정보 유지 보수</a:t>
            </a:r>
            <a:r>
              <a:rPr lang="en-US" altLang="ko-KR" dirty="0"/>
              <a:t> :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시스템 상태</a:t>
            </a:r>
            <a:r>
              <a:rPr lang="en-US" altLang="ko-KR" dirty="0"/>
              <a:t>, </a:t>
            </a:r>
            <a:r>
              <a:rPr lang="ko-KR" altLang="en-US" dirty="0"/>
              <a:t>파일</a:t>
            </a:r>
            <a:r>
              <a:rPr lang="en-US" altLang="ko-KR" dirty="0"/>
              <a:t>/</a:t>
            </a:r>
            <a:r>
              <a:rPr lang="ko-KR" altLang="en-US" dirty="0"/>
              <a:t>프로세스 정보 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통신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연결 생성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메시지 송수신</a:t>
            </a:r>
            <a:r>
              <a:rPr lang="en-US" altLang="ko-KR" dirty="0"/>
              <a:t>, </a:t>
            </a:r>
            <a:r>
              <a:rPr lang="ko-KR" altLang="en-US" dirty="0"/>
              <a:t>상태 전달 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보호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자원 접근 허가권 설정과 접근 통제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E8FF31-4DAF-4FFD-1E49-70785B4BE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10" y="2392558"/>
            <a:ext cx="4744112" cy="876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769B6B-E2E4-16A6-015F-3B00AAF18F9E}"/>
              </a:ext>
            </a:extLst>
          </p:cNvPr>
          <p:cNvSpPr txBox="1"/>
          <p:nvPr/>
        </p:nvSpPr>
        <p:spPr>
          <a:xfrm>
            <a:off x="6721429" y="2227430"/>
            <a:ext cx="5279454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print </a:t>
            </a:r>
            <a:r>
              <a:rPr lang="ko-KR" altLang="en-US" dirty="0"/>
              <a:t>호출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파이썬 라이브러리 함수가 문자열 형식 정리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내부에서 </a:t>
            </a:r>
            <a:r>
              <a:rPr lang="en-US" altLang="ko-KR" dirty="0"/>
              <a:t>write() </a:t>
            </a:r>
            <a:r>
              <a:rPr lang="ko-KR" altLang="en-US" dirty="0"/>
              <a:t>시스템 호출 요청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커널이 화면</a:t>
            </a:r>
            <a:r>
              <a:rPr lang="en-US" altLang="ko-KR" dirty="0"/>
              <a:t>/</a:t>
            </a:r>
            <a:r>
              <a:rPr lang="ko-KR" altLang="en-US" dirty="0"/>
              <a:t>터미널 출력 처리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결과 반환</a:t>
            </a:r>
            <a:endParaRPr lang="en-US" altLang="ko-KR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93EC2DF-F2C5-FC52-276F-09F6F4D96E31}"/>
              </a:ext>
            </a:extLst>
          </p:cNvPr>
          <p:cNvCxnSpPr>
            <a:cxnSpLocks/>
          </p:cNvCxnSpPr>
          <p:nvPr/>
        </p:nvCxnSpPr>
        <p:spPr>
          <a:xfrm>
            <a:off x="5472309" y="2830769"/>
            <a:ext cx="1242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7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C443-1083-3E9B-C8B9-C1CE051F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DB8D8D-6BA5-A2B1-C5DC-209D373A5729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5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C664A9-FBB2-AB6D-2B6E-CCB0B20C7FBA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D0179F-552B-A4E7-4859-579BB37D16C3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C1CD8-D670-B880-B9CE-589C26BED735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운영체제 구조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3AABF-39D0-7192-56AA-373B9AD08298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운영체제 구조의 종류와 특징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CF8F1-35B3-95C3-F755-522D55ACFFAA}"/>
              </a:ext>
            </a:extLst>
          </p:cNvPr>
          <p:cNvSpPr txBox="1"/>
          <p:nvPr/>
        </p:nvSpPr>
        <p:spPr>
          <a:xfrm>
            <a:off x="305273" y="1254369"/>
            <a:ext cx="11390337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Simple/Monolithic</a:t>
            </a:r>
            <a:r>
              <a:rPr lang="ko-KR" altLang="en-US" b="1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많은 기능이 하나의 커널 안에 통합됨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/>
              <a:t>Layerd</a:t>
            </a:r>
            <a:r>
              <a:rPr lang="en-US" altLang="ko-KR" b="1" dirty="0"/>
              <a:t> </a:t>
            </a:r>
            <a:r>
              <a:rPr lang="ko-KR" altLang="en-US" b="1" dirty="0"/>
              <a:t>구조 </a:t>
            </a:r>
            <a:r>
              <a:rPr lang="en-US" altLang="ko-KR" dirty="0"/>
              <a:t>: </a:t>
            </a:r>
            <a:r>
              <a:rPr lang="ko-KR" altLang="en-US" dirty="0"/>
              <a:t>하드웨어부터 사용자 인터페이스 까지 </a:t>
            </a:r>
            <a:r>
              <a:rPr lang="ko-KR" altLang="en-US" dirty="0" err="1"/>
              <a:t>게층적으로</a:t>
            </a:r>
            <a:r>
              <a:rPr lang="ko-KR" altLang="en-US" dirty="0"/>
              <a:t> 구성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Microkernel </a:t>
            </a:r>
            <a:r>
              <a:rPr lang="ko-KR" altLang="en-US" b="1" dirty="0"/>
              <a:t>구조 </a:t>
            </a:r>
            <a:r>
              <a:rPr lang="en-US" altLang="ko-KR" dirty="0"/>
              <a:t>: </a:t>
            </a:r>
            <a:r>
              <a:rPr lang="ko-KR" altLang="en-US" dirty="0"/>
              <a:t>필수 기능만 커널에 두고 나머지는 사용자 공간으로 이동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Modules/Hybrid </a:t>
            </a:r>
            <a:r>
              <a:rPr lang="ko-KR" altLang="en-US" b="1" dirty="0"/>
              <a:t>구조 </a:t>
            </a:r>
            <a:r>
              <a:rPr lang="en-US" altLang="ko-KR" dirty="0"/>
              <a:t>: </a:t>
            </a:r>
            <a:r>
              <a:rPr lang="ko-KR" altLang="en-US" dirty="0"/>
              <a:t>핵심 커널 </a:t>
            </a:r>
            <a:r>
              <a:rPr lang="en-US" altLang="ko-KR" dirty="0"/>
              <a:t>+ </a:t>
            </a:r>
            <a:r>
              <a:rPr lang="ko-KR" altLang="en-US" dirty="0"/>
              <a:t>동적 모듈 결합</a:t>
            </a:r>
            <a:r>
              <a:rPr lang="en-US" altLang="ko-KR" dirty="0"/>
              <a:t>, </a:t>
            </a:r>
            <a:r>
              <a:rPr lang="ko-KR" altLang="en-US" dirty="0"/>
              <a:t>현대 운영체제에서 널리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구조에 따라 </a:t>
            </a:r>
            <a:r>
              <a:rPr lang="ko-KR" altLang="en-US" b="1" dirty="0"/>
              <a:t>성능</a:t>
            </a:r>
            <a:r>
              <a:rPr lang="en-US" altLang="ko-KR" b="1" dirty="0"/>
              <a:t>, </a:t>
            </a:r>
            <a:r>
              <a:rPr lang="ko-KR" altLang="en-US" b="1" dirty="0"/>
              <a:t>유지보수성</a:t>
            </a:r>
            <a:r>
              <a:rPr lang="en-US" altLang="ko-KR" b="1" dirty="0"/>
              <a:t>, </a:t>
            </a:r>
            <a:r>
              <a:rPr lang="ko-KR" altLang="en-US" b="1" dirty="0"/>
              <a:t>확장성</a:t>
            </a:r>
            <a:r>
              <a:rPr lang="en-US" altLang="ko-KR" b="1" dirty="0"/>
              <a:t>, </a:t>
            </a:r>
            <a:r>
              <a:rPr lang="ko-KR" altLang="en-US" b="1" dirty="0"/>
              <a:t>보안성</a:t>
            </a:r>
            <a:r>
              <a:rPr lang="ko-KR" altLang="en-US" dirty="0"/>
              <a:t>이 달라진다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F4E966-104E-8C8A-2AAE-0B780AE9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449" y="2731697"/>
            <a:ext cx="8313983" cy="358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0E00FC-90CA-B80F-3C59-A42518918CD3}"/>
              </a:ext>
            </a:extLst>
          </p:cNvPr>
          <p:cNvSpPr txBox="1"/>
          <p:nvPr/>
        </p:nvSpPr>
        <p:spPr>
          <a:xfrm>
            <a:off x="4477613" y="6224243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6. </a:t>
            </a:r>
            <a:r>
              <a:rPr lang="ko-KR" altLang="en-US" b="1" dirty="0"/>
              <a:t>운영체제 구조의 종류</a:t>
            </a:r>
          </a:p>
        </p:txBody>
      </p:sp>
    </p:spTree>
    <p:extLst>
      <p:ext uri="{BB962C8B-B14F-4D97-AF65-F5344CB8AC3E}">
        <p14:creationId xmlns:p14="http://schemas.microsoft.com/office/powerpoint/2010/main" val="1674439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0D01-4737-B8C0-E66C-738EEFD8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FB515F-7250-B7BE-F9A7-165F848FB670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6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EDF7A2-8525-189B-DABD-B71F7294FD50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672E8C-F72F-EE29-7B22-6000D6853015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061A7A-5604-BAF5-C06E-34CBCD967850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운영체제 디버깅과 부팅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2BE0D-8FCE-BB51-67CB-F16685D5E942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운영체제 디버깅과 부팅 과정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B17F7-6D03-011D-301B-8D79CEC186FB}"/>
              </a:ext>
            </a:extLst>
          </p:cNvPr>
          <p:cNvSpPr txBox="1"/>
          <p:nvPr/>
        </p:nvSpPr>
        <p:spPr>
          <a:xfrm>
            <a:off x="305273" y="1254369"/>
            <a:ext cx="11390337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디버깅</a:t>
            </a:r>
            <a:r>
              <a:rPr lang="ko-KR" altLang="en-US" dirty="0"/>
              <a:t>은 운영체제에서 발생하는 오류를 발견하고 수정하는 과정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장애 분석에는 </a:t>
            </a:r>
            <a:r>
              <a:rPr lang="en-US" altLang="ko-KR" b="1" dirty="0"/>
              <a:t>log file, core dump, crash dump</a:t>
            </a:r>
            <a:r>
              <a:rPr lang="ko-KR" altLang="en-US" dirty="0"/>
              <a:t>가 활용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성능 조정을 위해 병목 지점을 찾아야 하며</a:t>
            </a:r>
            <a:r>
              <a:rPr lang="en-US" altLang="ko-KR" dirty="0"/>
              <a:t>, top</a:t>
            </a:r>
            <a:r>
              <a:rPr lang="ko-KR" altLang="en-US" dirty="0"/>
              <a:t>이나 </a:t>
            </a:r>
            <a:r>
              <a:rPr lang="en-US" altLang="ko-KR" b="1" dirty="0"/>
              <a:t>Windows Task Manager </a:t>
            </a:r>
            <a:r>
              <a:rPr lang="ko-KR" altLang="en-US" dirty="0"/>
              <a:t>같은 도구를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부팅은 커널을 메모리에 적재하여 </a:t>
            </a:r>
            <a:r>
              <a:rPr lang="ko-KR" altLang="en-US" b="1" dirty="0"/>
              <a:t>시스템을 시작하는 절차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부팅 과정</a:t>
            </a:r>
            <a:r>
              <a:rPr lang="en-US" altLang="ko-KR" dirty="0"/>
              <a:t>: </a:t>
            </a:r>
            <a:r>
              <a:rPr lang="en-US" altLang="ko-KR" b="1" dirty="0"/>
              <a:t>bootstrap loader → boot block → full bootstrap program → OS kernel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UEFI</a:t>
            </a:r>
            <a:r>
              <a:rPr lang="ko-KR" altLang="en-US" dirty="0"/>
              <a:t>는 </a:t>
            </a:r>
            <a:r>
              <a:rPr lang="en-US" altLang="ko-KR" dirty="0"/>
              <a:t>BIOS</a:t>
            </a:r>
            <a:r>
              <a:rPr lang="ko-KR" altLang="en-US" dirty="0"/>
              <a:t>를 대체하며 파일 시스템을 지원해 더 유연한 부팅이 가능</a:t>
            </a:r>
            <a:endParaRPr lang="en-US" altLang="ko-KR" dirty="0"/>
          </a:p>
        </p:txBody>
      </p:sp>
      <p:pic>
        <p:nvPicPr>
          <p:cNvPr id="3077" name="Picture 5" descr="바이오스 - 위키백과, 우리 모두의 백과사전">
            <a:extLst>
              <a:ext uri="{FF2B5EF4-FFF2-40B4-BE49-F238E27FC236}">
                <a16:creationId xmlns:a16="http://schemas.microsoft.com/office/drawing/2014/main" id="{884F9A86-A330-3130-FAAF-E988948C4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48" y="2987235"/>
            <a:ext cx="4963886" cy="31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638A9F-8DFD-AE5F-A6C3-1E8FB8B478F3}"/>
              </a:ext>
            </a:extLst>
          </p:cNvPr>
          <p:cNvSpPr txBox="1"/>
          <p:nvPr/>
        </p:nvSpPr>
        <p:spPr>
          <a:xfrm>
            <a:off x="1304449" y="6129146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7. BIOS</a:t>
            </a:r>
            <a:endParaRPr lang="ko-KR" altLang="en-US" b="1" dirty="0"/>
          </a:p>
        </p:txBody>
      </p:sp>
      <p:pic>
        <p:nvPicPr>
          <p:cNvPr id="3079" name="Picture 7" descr="메인보드 UEFI 화면에 대해서 궁금한게 있습니다. &gt; CPU/메인보드/램 | 퀘이사존 QUASARZONE">
            <a:extLst>
              <a:ext uri="{FF2B5EF4-FFF2-40B4-BE49-F238E27FC236}">
                <a16:creationId xmlns:a16="http://schemas.microsoft.com/office/drawing/2014/main" id="{0DEFA85B-0CB8-BDCB-0B69-98D1AC875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908" y="2987235"/>
            <a:ext cx="5520336" cy="310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2F9C29-02CA-5B21-1C08-74D4DD72AE23}"/>
              </a:ext>
            </a:extLst>
          </p:cNvPr>
          <p:cNvSpPr txBox="1"/>
          <p:nvPr/>
        </p:nvSpPr>
        <p:spPr>
          <a:xfrm>
            <a:off x="6912769" y="6129146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8. UEFI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7073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104B-F9BD-A3D3-FD0D-07164BEC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0ACE77-E7FB-2E3E-0D70-9D9B0EDE2B56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57FAC3-987A-6353-8E95-91289675CA8D}"/>
              </a:ext>
            </a:extLst>
          </p:cNvPr>
          <p:cNvSpPr/>
          <p:nvPr/>
        </p:nvSpPr>
        <p:spPr>
          <a:xfrm>
            <a:off x="0" y="466344"/>
            <a:ext cx="12192000" cy="6071616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4AED68-A221-6DC9-A151-DB9CCD0C5B0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C3C704-EBE9-9CF7-47E8-8D7FA279FFFE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마무리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34F788-45E3-AFE7-A183-2E9882012D58}"/>
              </a:ext>
            </a:extLst>
          </p:cNvPr>
          <p:cNvSpPr txBox="1">
            <a:spLocks/>
          </p:cNvSpPr>
          <p:nvPr/>
        </p:nvSpPr>
        <p:spPr>
          <a:xfrm>
            <a:off x="1615440" y="1497403"/>
            <a:ext cx="9144000" cy="1224279"/>
          </a:xfrm>
          <a:prstGeom prst="rect">
            <a:avLst/>
          </a:prstGeom>
          <a:solidFill>
            <a:srgbClr val="EFF3F8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5000" b="1" dirty="0">
                <a:solidFill>
                  <a:srgbClr val="000000"/>
                </a:solidFill>
                <a:latin typeface="+mj-ea"/>
              </a:rPr>
              <a:t>Thank you</a:t>
            </a:r>
            <a:endParaRPr lang="ko-KR" altLang="en-US" sz="5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A5AD07-7BFF-3BF1-6FF8-D2469E83F69C}"/>
              </a:ext>
            </a:extLst>
          </p:cNvPr>
          <p:cNvSpPr txBox="1">
            <a:spLocks/>
          </p:cNvSpPr>
          <p:nvPr/>
        </p:nvSpPr>
        <p:spPr>
          <a:xfrm>
            <a:off x="1524000" y="3752741"/>
            <a:ext cx="9144000" cy="2499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2026-03-18</a:t>
            </a:r>
          </a:p>
          <a:p>
            <a:pPr algn="ctr">
              <a:defRPr/>
            </a:pPr>
            <a:endParaRPr lang="en-US" altLang="ko-KR" sz="2000" dirty="0">
              <a:latin typeface="+mj-ea"/>
              <a:ea typeface="+mj-ea"/>
            </a:endParaRPr>
          </a:p>
          <a:p>
            <a:pPr marL="0" indent="0" algn="ctr">
              <a:buNone/>
              <a:defRPr/>
            </a:pPr>
            <a:r>
              <a:rPr lang="ko-KR" altLang="en-US" sz="2000" b="1" dirty="0">
                <a:latin typeface="+mj-ea"/>
                <a:ea typeface="+mj-ea"/>
              </a:rPr>
              <a:t>이희준</a:t>
            </a:r>
            <a:endParaRPr lang="en-US" altLang="ko-KR" sz="2000" dirty="0">
              <a:latin typeface="+mj-ea"/>
              <a:ea typeface="+mj-ea"/>
            </a:endParaRPr>
          </a:p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gmlwns2279@tukorea.ac.kr</a:t>
            </a:r>
          </a:p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Dept. of IT Semiconductor Convergence Engineering, TUK</a:t>
            </a:r>
          </a:p>
          <a:p>
            <a:pPr marL="0" indent="0" algn="ctr">
              <a:buNone/>
            </a:pPr>
            <a:r>
              <a:rPr lang="en-US" altLang="ko-KR" sz="2000" dirty="0">
                <a:latin typeface="+mj-ea"/>
                <a:ea typeface="+mj-ea"/>
              </a:rPr>
              <a:t>Intelligent Connected-Things (</a:t>
            </a:r>
            <a:r>
              <a:rPr lang="en-US" altLang="ko-KR" sz="2000" dirty="0" err="1">
                <a:latin typeface="+mj-ea"/>
                <a:ea typeface="+mj-ea"/>
              </a:rPr>
              <a:t>ICon</a:t>
            </a:r>
            <a:r>
              <a:rPr lang="en-US" altLang="ko-KR" sz="2000" dirty="0">
                <a:latin typeface="+mj-ea"/>
                <a:ea typeface="+mj-ea"/>
              </a:rPr>
              <a:t>) Lab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02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6295</TotalTime>
  <Words>751</Words>
  <Application>Microsoft Office PowerPoint</Application>
  <PresentationFormat>와이드스크린</PresentationFormat>
  <Paragraphs>112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이희준(2025811065)</dc:creator>
  <cp:lastModifiedBy>이희준(2025811065)</cp:lastModifiedBy>
  <cp:revision>937</cp:revision>
  <dcterms:created xsi:type="dcterms:W3CDTF">2025-05-16T02:02:27Z</dcterms:created>
  <dcterms:modified xsi:type="dcterms:W3CDTF">2026-03-18T06:16:40Z</dcterms:modified>
  <cp:version/>
</cp:coreProperties>
</file>