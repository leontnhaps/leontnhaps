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006" autoAdjust="0"/>
  </p:normalViewPr>
  <p:slideViewPr>
    <p:cSldViewPr snapToGrid="0" snapToObjects="1">
      <p:cViewPr>
        <p:scale>
          <a:sx n="75" d="100"/>
          <a:sy n="75" d="100"/>
        </p:scale>
        <p:origin x="708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88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SDV</a:t>
            </a:r>
            <a:r>
              <a:rPr lang="ko-KR" altLang="en-US" dirty="0"/>
              <a:t>는 </a:t>
            </a:r>
            <a:r>
              <a:rPr lang="en-US" altLang="ko-KR" b="1" dirty="0"/>
              <a:t>Software Defined Vehicle</a:t>
            </a:r>
            <a:r>
              <a:rPr lang="ko-KR" altLang="en-US" dirty="0"/>
              <a:t>의 약자로</a:t>
            </a:r>
            <a:r>
              <a:rPr lang="en-US" altLang="ko-KR" dirty="0"/>
              <a:t>, </a:t>
            </a:r>
            <a:r>
              <a:rPr lang="ko-KR" altLang="en-US" dirty="0"/>
              <a:t>직역하면 </a:t>
            </a:r>
            <a:r>
              <a:rPr lang="en-US" altLang="ko-KR" dirty="0"/>
              <a:t>'</a:t>
            </a:r>
            <a:r>
              <a:rPr lang="ko-KR" altLang="en-US" dirty="0"/>
              <a:t>소프트웨어가 정의하는 자동차</a:t>
            </a:r>
            <a:r>
              <a:rPr lang="en-US" altLang="ko-KR" dirty="0"/>
              <a:t>'</a:t>
            </a:r>
            <a:r>
              <a:rPr lang="ko-KR" altLang="en-US" dirty="0"/>
              <a:t>를 뜻합니다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차량의 주요 기능과 성능이 하드웨어 부품이 아닌 </a:t>
            </a:r>
            <a:r>
              <a:rPr lang="en-US" altLang="ko-KR" dirty="0"/>
              <a:t>'</a:t>
            </a:r>
            <a:r>
              <a:rPr lang="ko-KR" altLang="en-US" dirty="0"/>
              <a:t>소프트웨어</a:t>
            </a:r>
            <a:r>
              <a:rPr lang="en-US" altLang="ko-KR" dirty="0"/>
              <a:t>'</a:t>
            </a:r>
            <a:r>
              <a:rPr lang="ko-KR" altLang="en-US" dirty="0"/>
              <a:t>를 중심으로 구동되고 제어된다는 의미입니다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가장 핵심적인 특징은 장표 상단에 적힌 것처럼 **</a:t>
            </a:r>
            <a:r>
              <a:rPr lang="en-US" altLang="ko-KR" dirty="0"/>
              <a:t>'</a:t>
            </a:r>
            <a:r>
              <a:rPr lang="ko-KR" altLang="en-US" dirty="0"/>
              <a:t>출고 후에도 기능이 계속 진화하는 차량</a:t>
            </a:r>
            <a:r>
              <a:rPr lang="en-US" altLang="ko-KR" dirty="0"/>
              <a:t>'**</a:t>
            </a:r>
            <a:r>
              <a:rPr lang="ko-KR" altLang="en-US" dirty="0"/>
              <a:t>이라는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우리가 매일 사용하는 스마트폰을 생각해보시면 이해가 쉽습니다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기기를 새로 구매하지 않아도 주기적인 </a:t>
            </a:r>
            <a:r>
              <a:rPr lang="en-US" altLang="ko-KR" dirty="0"/>
              <a:t>OS </a:t>
            </a:r>
            <a:r>
              <a:rPr lang="ko-KR" altLang="en-US" dirty="0"/>
              <a:t>업데이트를 통해 새로운 기능이 추가되거나 성능이 개선되는 것처럼</a:t>
            </a:r>
            <a:r>
              <a:rPr lang="en-US" altLang="ko-KR" dirty="0"/>
              <a:t>, </a:t>
            </a:r>
            <a:r>
              <a:rPr lang="ko-KR" altLang="en-US" dirty="0"/>
              <a:t>자동차 역시 동일한 패러다임으로 변화하고 있는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가능하게 하는 핵심 기술이 바로 </a:t>
            </a:r>
            <a:r>
              <a:rPr lang="en-US" altLang="ko-KR" b="1" dirty="0"/>
              <a:t>OTA</a:t>
            </a:r>
            <a:r>
              <a:rPr lang="en-US" altLang="ko-KR" dirty="0"/>
              <a:t>, </a:t>
            </a:r>
            <a:r>
              <a:rPr lang="ko-KR" altLang="en-US" dirty="0"/>
              <a:t>즉 **</a:t>
            </a:r>
            <a:r>
              <a:rPr lang="en-US" altLang="ko-KR" dirty="0"/>
              <a:t>Over-The-Air(</a:t>
            </a:r>
            <a:r>
              <a:rPr lang="ko-KR" altLang="en-US" dirty="0"/>
              <a:t>무선 소프트웨어 업데이트</a:t>
            </a:r>
            <a:r>
              <a:rPr lang="en-US" altLang="ko-KR" dirty="0"/>
              <a:t>)**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서비스 센터를 물리적으로 방문할 필요 없이</a:t>
            </a:r>
            <a:r>
              <a:rPr lang="en-US" altLang="ko-KR" dirty="0"/>
              <a:t>, </a:t>
            </a:r>
            <a:r>
              <a:rPr lang="ko-KR" altLang="en-US" dirty="0"/>
              <a:t>통신망을 통해 원격으로 차량의 제어 시스템이나 주행 성능을 최신 상태로 유지할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더불어</a:t>
            </a:r>
            <a:r>
              <a:rPr lang="en-US" altLang="ko-KR" dirty="0"/>
              <a:t>, </a:t>
            </a:r>
            <a:r>
              <a:rPr lang="ko-KR" altLang="en-US" dirty="0"/>
              <a:t>차량에서 수집된 주행 데이터를 바탕으로 **</a:t>
            </a:r>
            <a:r>
              <a:rPr lang="en-US" altLang="ko-KR" dirty="0"/>
              <a:t>AI(Artificial Intelligence)**</a:t>
            </a:r>
            <a:r>
              <a:rPr lang="ko-KR" altLang="en-US" dirty="0"/>
              <a:t>가 학습하여 운전자 맞춤형 서비스를 제공하게 됩니다</a:t>
            </a:r>
            <a:r>
              <a:rPr lang="en-US" altLang="ko-KR" dirty="0"/>
              <a:t>. </a:t>
            </a:r>
            <a:r>
              <a:rPr lang="ko-KR" altLang="en-US" dirty="0"/>
              <a:t>화면에 작게 언급된 **</a:t>
            </a:r>
            <a:r>
              <a:rPr lang="en-US" altLang="ko-KR" dirty="0"/>
              <a:t>ECU(Electronic Control Unit, </a:t>
            </a:r>
            <a:r>
              <a:rPr lang="ko-KR" altLang="en-US" dirty="0"/>
              <a:t>전자제어장치</a:t>
            </a:r>
            <a:r>
              <a:rPr lang="en-US" altLang="ko-KR" dirty="0"/>
              <a:t>)**</a:t>
            </a:r>
            <a:r>
              <a:rPr lang="ko-KR" altLang="en-US" dirty="0"/>
              <a:t>들 역시</a:t>
            </a:r>
            <a:r>
              <a:rPr lang="en-US" altLang="ko-KR" dirty="0"/>
              <a:t>, </a:t>
            </a:r>
            <a:r>
              <a:rPr lang="ko-KR" altLang="en-US" dirty="0"/>
              <a:t>과거에는 부품마다 따로 놀았다면 이제는 강력한 중앙 컴퓨터를 중심으로 통합되어 복잡한 소프트웨어를 빠르고 효율적으로 처리하게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결론적으로 하단에 있는 문장처럼</a:t>
            </a:r>
            <a:r>
              <a:rPr lang="en-US" altLang="ko-KR" dirty="0"/>
              <a:t>, </a:t>
            </a:r>
            <a:r>
              <a:rPr lang="ko-KR" altLang="en-US" dirty="0"/>
              <a:t>이제 자동차는 **</a:t>
            </a:r>
            <a:r>
              <a:rPr lang="en-US" altLang="ko-KR" dirty="0"/>
              <a:t>'</a:t>
            </a:r>
            <a:r>
              <a:rPr lang="ko-KR" altLang="en-US" dirty="0"/>
              <a:t>한 번 생산되면 기능이 고정되는 하드웨어 제품</a:t>
            </a:r>
            <a:r>
              <a:rPr lang="en-US" altLang="ko-KR" dirty="0"/>
              <a:t>'**</a:t>
            </a:r>
            <a:r>
              <a:rPr lang="ko-KR" altLang="en-US" dirty="0"/>
              <a:t>이 아니라</a:t>
            </a:r>
            <a:r>
              <a:rPr lang="en-US" altLang="ko-KR" dirty="0"/>
              <a:t>, **'</a:t>
            </a:r>
            <a:r>
              <a:rPr lang="ko-KR" altLang="en-US" dirty="0"/>
              <a:t>지속적으로 업데이트되며 새로운 가치를 창출하는 소프트웨어 플랫폼</a:t>
            </a:r>
            <a:r>
              <a:rPr lang="en-US" altLang="ko-KR" dirty="0"/>
              <a:t>'**</a:t>
            </a:r>
            <a:r>
              <a:rPr lang="ko-KR" altLang="en-US" dirty="0"/>
              <a:t>으로 진화하고 있다고 이해해 주시면 되겠습니다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장표 우측 중간을 보시면 이 변화의 핵심이 잘 요약되어 있습니다</a:t>
            </a:r>
            <a:r>
              <a:rPr lang="en-US" altLang="ko-KR" dirty="0"/>
              <a:t>. </a:t>
            </a:r>
            <a:r>
              <a:rPr lang="ko-KR" altLang="en-US" dirty="0"/>
              <a:t>과거 자동차 산업의 경쟁력이 엔진의 성능</a:t>
            </a:r>
            <a:r>
              <a:rPr lang="en-US" altLang="ko-KR" dirty="0"/>
              <a:t>, </a:t>
            </a:r>
            <a:r>
              <a:rPr lang="ko-KR" altLang="en-US" dirty="0"/>
              <a:t>즉 **</a:t>
            </a:r>
            <a:r>
              <a:rPr lang="en-US" altLang="ko-KR" dirty="0"/>
              <a:t>'</a:t>
            </a:r>
            <a:r>
              <a:rPr lang="ko-KR" altLang="en-US" dirty="0"/>
              <a:t>얼마나 잘 달리는 차를 만드느냐</a:t>
            </a:r>
            <a:r>
              <a:rPr lang="en-US" altLang="ko-KR" dirty="0"/>
              <a:t>'**</a:t>
            </a:r>
            <a:r>
              <a:rPr lang="ko-KR" altLang="en-US" dirty="0"/>
              <a:t>에 있었다면</a:t>
            </a:r>
            <a:r>
              <a:rPr lang="en-US" altLang="ko-KR" dirty="0"/>
              <a:t>, </a:t>
            </a:r>
            <a:r>
              <a:rPr lang="ko-KR" altLang="en-US" dirty="0"/>
              <a:t>이제는 **</a:t>
            </a:r>
            <a:r>
              <a:rPr lang="en-US" altLang="ko-KR" dirty="0"/>
              <a:t>'</a:t>
            </a:r>
            <a:r>
              <a:rPr lang="ko-KR" altLang="en-US" dirty="0"/>
              <a:t>얼마나 똑똑하게 업데이트되는 서비스 차량을 만드느냐</a:t>
            </a:r>
            <a:r>
              <a:rPr lang="en-US" altLang="ko-KR" dirty="0"/>
              <a:t>'**</a:t>
            </a:r>
            <a:r>
              <a:rPr lang="ko-KR" altLang="en-US" dirty="0"/>
              <a:t>로 경쟁의 축이 완전히 이동했습니다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</a:t>
            </a:r>
            <a:r>
              <a:rPr lang="en-US" altLang="ko-KR" dirty="0"/>
              <a:t>SDV </a:t>
            </a:r>
            <a:r>
              <a:rPr lang="ko-KR" altLang="en-US" dirty="0"/>
              <a:t>시대를 앞당긴 네 가지 큰 흐름이 좌측에 정리되어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b="1" dirty="0"/>
              <a:t>전동화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내연기관 엔진 대신 배터리와 모터 중심의 전기차로 전환되면서</a:t>
            </a:r>
            <a:r>
              <a:rPr lang="en-US" altLang="ko-KR" dirty="0"/>
              <a:t>, </a:t>
            </a:r>
            <a:r>
              <a:rPr lang="ko-KR" altLang="en-US" dirty="0"/>
              <a:t>차량의 제어 방식 자체가 기계 중심에서 전자와 소프트웨어 중심으로 바뀌었습니다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b="1" dirty="0"/>
              <a:t>자율주행</a:t>
            </a:r>
            <a:r>
              <a:rPr lang="ko-KR" altLang="en-US" dirty="0"/>
              <a:t> 기술의 발전입니다</a:t>
            </a:r>
            <a:r>
              <a:rPr lang="en-US" altLang="ko-KR" dirty="0"/>
              <a:t>. </a:t>
            </a:r>
            <a:r>
              <a:rPr lang="ko-KR" altLang="en-US" dirty="0"/>
              <a:t>수많은 센서가 읽어 들이는 방대한 데이터를 실시간으로 처리하기 위해 아주 똑똑하고 통합된 컴퓨터 제어 시스템이 필수가 되었습니다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차가 항상 인터넷에 연결되는 </a:t>
            </a:r>
            <a:r>
              <a:rPr lang="ko-KR" altLang="en-US" b="1" dirty="0"/>
              <a:t>초고속 통신</a:t>
            </a:r>
            <a:r>
              <a:rPr lang="ko-KR" altLang="en-US" dirty="0"/>
              <a:t>의 결합입니다</a:t>
            </a:r>
            <a:r>
              <a:rPr lang="en-US" altLang="ko-KR" dirty="0"/>
              <a:t>. </a:t>
            </a:r>
            <a:r>
              <a:rPr lang="ko-KR" altLang="en-US" dirty="0"/>
              <a:t>덕분에 자동차가 단순한 이동 수단을 넘어 거대한 스마트 기기처럼 진화하고 있습니다</a:t>
            </a:r>
            <a:r>
              <a:rPr lang="en-US" altLang="ko-KR" dirty="0"/>
              <a:t>. </a:t>
            </a:r>
            <a:r>
              <a:rPr lang="ko-KR" altLang="en-US" dirty="0"/>
              <a:t>마지막 넷째</a:t>
            </a:r>
            <a:r>
              <a:rPr lang="en-US" altLang="ko-KR" dirty="0"/>
              <a:t>, </a:t>
            </a:r>
            <a:r>
              <a:rPr lang="ko-KR" altLang="en-US" dirty="0"/>
              <a:t>바로 </a:t>
            </a:r>
            <a:r>
              <a:rPr lang="ko-KR" altLang="en-US" b="1" dirty="0"/>
              <a:t>서비스화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네 번째가 기업 입장에서는 가장 중요합니다</a:t>
            </a:r>
            <a:r>
              <a:rPr lang="en-US" altLang="ko-KR" dirty="0"/>
              <a:t>. </a:t>
            </a:r>
            <a:r>
              <a:rPr lang="ko-KR" altLang="en-US" dirty="0"/>
              <a:t>우측 하단의 핵심 메시지처럼</a:t>
            </a:r>
            <a:r>
              <a:rPr lang="en-US" altLang="ko-KR" dirty="0"/>
              <a:t>, </a:t>
            </a:r>
            <a:r>
              <a:rPr lang="ko-KR" altLang="en-US" dirty="0"/>
              <a:t>이제 자동차 회사는 기계</a:t>
            </a:r>
            <a:r>
              <a:rPr lang="en-US" altLang="ko-KR" dirty="0"/>
              <a:t>(</a:t>
            </a:r>
            <a:r>
              <a:rPr lang="ko-KR" altLang="en-US" dirty="0"/>
              <a:t>하드웨어</a:t>
            </a:r>
            <a:r>
              <a:rPr lang="en-US" altLang="ko-KR" dirty="0"/>
              <a:t>)</a:t>
            </a:r>
            <a:r>
              <a:rPr lang="ko-KR" altLang="en-US" dirty="0"/>
              <a:t>를 한 번 팔고 끝내는 것이 아닙니다</a:t>
            </a:r>
            <a:r>
              <a:rPr lang="en-US" altLang="ko-KR" dirty="0"/>
              <a:t>. </a:t>
            </a:r>
            <a:r>
              <a:rPr lang="ko-KR" altLang="en-US" dirty="0"/>
              <a:t>차량 출고 이후에도 지속적인 소프트웨어 업데이트와 새로운 기능의 구독 판매를 통해 </a:t>
            </a:r>
            <a:r>
              <a:rPr lang="ko-KR" altLang="en-US" b="1" dirty="0"/>
              <a:t>계속해서 수익을 창출할 수 있는 새로운 비즈니스 모델</a:t>
            </a:r>
            <a:r>
              <a:rPr lang="ko-KR" altLang="en-US" dirty="0"/>
              <a:t>이 열린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결국 </a:t>
            </a:r>
            <a:r>
              <a:rPr lang="en-US" altLang="ko-KR" dirty="0"/>
              <a:t>SDV</a:t>
            </a:r>
            <a:r>
              <a:rPr lang="ko-KR" altLang="en-US" dirty="0"/>
              <a:t>의 등장은 단순한 기술의 발전을 넘어서</a:t>
            </a:r>
            <a:r>
              <a:rPr lang="en-US" altLang="ko-KR" dirty="0"/>
              <a:t>, </a:t>
            </a:r>
            <a:r>
              <a:rPr lang="ko-KR" altLang="en-US" dirty="0"/>
              <a:t>자동차 산업의 비즈니스 생태계 자체가 뒤바뀌는 거대한 혁신이라고 요약할 수 있습니다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altLang="ko-KR" b="1" dirty="0"/>
              <a:t>ADAS (Advanced Driver Assistance System):</a:t>
            </a:r>
            <a:r>
              <a:rPr lang="ko-KR" altLang="en-US" dirty="0"/>
              <a:t> 첨단 운전자 보조 시스템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차선 유지 보조</a:t>
            </a:r>
            <a:r>
              <a:rPr lang="en-US" altLang="ko-KR" dirty="0"/>
              <a:t>, </a:t>
            </a:r>
            <a:r>
              <a:rPr lang="ko-KR" altLang="en-US" dirty="0"/>
              <a:t>자동 긴급 제동 등</a:t>
            </a:r>
            <a:r>
              <a:rPr lang="en-US" altLang="ko-KR" dirty="0"/>
              <a:t>)</a:t>
            </a:r>
          </a:p>
          <a:p>
            <a:r>
              <a:rPr lang="en-US" altLang="ko-KR" b="1" dirty="0"/>
              <a:t>AD (Autonomous Driving):</a:t>
            </a:r>
            <a:r>
              <a:rPr lang="ko-KR" altLang="en-US" dirty="0"/>
              <a:t> 자율주행</a:t>
            </a:r>
            <a:r>
              <a:rPr lang="en-US" altLang="ko-KR" dirty="0"/>
              <a:t>. </a:t>
            </a:r>
            <a:r>
              <a:rPr lang="ko-KR" altLang="en-US" dirty="0"/>
              <a:t>운전자의 개입 없이 시스템이 완전히 주행을 제어하는 단계입니다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V2X (Vehicle to Everything):</a:t>
            </a:r>
            <a:r>
              <a:rPr lang="ko-KR" altLang="en-US" dirty="0"/>
              <a:t> 차량 사물 통신</a:t>
            </a:r>
            <a:r>
              <a:rPr lang="en-US" altLang="ko-KR" dirty="0"/>
              <a:t>. </a:t>
            </a:r>
            <a:r>
              <a:rPr lang="ko-KR" altLang="en-US" dirty="0"/>
              <a:t>자동차가 다른 자동차</a:t>
            </a:r>
            <a:r>
              <a:rPr lang="en-US" altLang="ko-KR" dirty="0"/>
              <a:t>, </a:t>
            </a:r>
            <a:r>
              <a:rPr lang="ko-KR" altLang="en-US" dirty="0"/>
              <a:t>신호등</a:t>
            </a:r>
            <a:r>
              <a:rPr lang="en-US" altLang="ko-KR" dirty="0"/>
              <a:t>, </a:t>
            </a:r>
            <a:r>
              <a:rPr lang="ko-KR" altLang="en-US" dirty="0"/>
              <a:t>보행자의 스마트폰 등 도로 위의 모든 것과 무선으로 데이터를 주고받는 기술입니다</a:t>
            </a:r>
            <a:r>
              <a:rPr lang="en-US" altLang="ko-KR" dirty="0"/>
              <a:t>. </a:t>
            </a:r>
            <a:r>
              <a:rPr lang="ko-KR" altLang="en-US" dirty="0"/>
              <a:t>자율주행의 핵심 눈 역할을 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CASE</a:t>
            </a:r>
            <a:r>
              <a:rPr lang="ko-KR" altLang="en-US" b="0" dirty="0"/>
              <a:t> </a:t>
            </a:r>
            <a:r>
              <a:rPr lang="en-US" altLang="ko-KR" b="1" dirty="0"/>
              <a:t>:</a:t>
            </a:r>
            <a:r>
              <a:rPr lang="ko-KR" altLang="en-US" dirty="0"/>
              <a:t> 현대 자동차 산업을 관통하는 </a:t>
            </a:r>
            <a:r>
              <a:rPr lang="en-US" altLang="ko-KR" dirty="0"/>
              <a:t>4</a:t>
            </a:r>
            <a:r>
              <a:rPr lang="ko-KR" altLang="en-US" dirty="0"/>
              <a:t>대 메가 트렌드의 앞 글자를 딴 용어입니다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</a:t>
            </a:r>
            <a:r>
              <a:rPr lang="en-US" altLang="ko-KR" dirty="0"/>
              <a:t>onnected (</a:t>
            </a:r>
            <a:r>
              <a:rPr lang="ko-KR" altLang="en-US" dirty="0"/>
              <a:t>연결</a:t>
            </a:r>
            <a:r>
              <a:rPr lang="en-US" altLang="ko-KR" dirty="0"/>
              <a:t>), </a:t>
            </a:r>
            <a:r>
              <a:rPr lang="en-US" altLang="ko-KR" b="1" dirty="0"/>
              <a:t>A</a:t>
            </a:r>
            <a:r>
              <a:rPr lang="en-US" altLang="ko-KR" dirty="0"/>
              <a:t>utonomous (</a:t>
            </a:r>
            <a:r>
              <a:rPr lang="ko-KR" altLang="en-US" dirty="0"/>
              <a:t>자율주행</a:t>
            </a:r>
            <a:r>
              <a:rPr lang="en-US" altLang="ko-KR" dirty="0"/>
              <a:t>), </a:t>
            </a:r>
            <a:r>
              <a:rPr lang="en-US" altLang="ko-KR" b="1" dirty="0"/>
              <a:t>S</a:t>
            </a:r>
            <a:r>
              <a:rPr lang="en-US" altLang="ko-KR" dirty="0"/>
              <a:t>hared (</a:t>
            </a:r>
            <a:r>
              <a:rPr lang="ko-KR" altLang="en-US" dirty="0"/>
              <a:t>공유</a:t>
            </a:r>
            <a:r>
              <a:rPr lang="en-US" altLang="ko-KR" dirty="0"/>
              <a:t>), </a:t>
            </a:r>
            <a:r>
              <a:rPr lang="en-US" altLang="ko-KR" b="1" dirty="0"/>
              <a:t>E</a:t>
            </a:r>
            <a:r>
              <a:rPr lang="en-US" altLang="ko-KR" dirty="0"/>
              <a:t>lectrified (</a:t>
            </a:r>
            <a:r>
              <a:rPr lang="ko-KR" altLang="en-US" dirty="0"/>
              <a:t>전동화</a:t>
            </a:r>
            <a:r>
              <a:rPr lang="en-US" altLang="ko-KR" dirty="0"/>
              <a:t>/</a:t>
            </a:r>
            <a:r>
              <a:rPr lang="ko-KR" altLang="en-US" dirty="0"/>
              <a:t>전기차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왼쪽의 </a:t>
            </a:r>
            <a:r>
              <a:rPr lang="en-US" altLang="ko-KR" b="1" dirty="0"/>
              <a:t>'</a:t>
            </a:r>
            <a:r>
              <a:rPr lang="ko-KR" altLang="en-US" b="1" dirty="0"/>
              <a:t>기존 분산형</a:t>
            </a:r>
            <a:r>
              <a:rPr lang="en-US" altLang="ko-KR" b="1" dirty="0"/>
              <a:t>'</a:t>
            </a:r>
            <a:r>
              <a:rPr lang="ko-KR" altLang="en-US" dirty="0"/>
              <a:t> 구조입니다</a:t>
            </a:r>
            <a:r>
              <a:rPr lang="en-US" altLang="ko-KR" dirty="0"/>
              <a:t>. </a:t>
            </a:r>
            <a:r>
              <a:rPr lang="ko-KR" altLang="en-US" dirty="0"/>
              <a:t>자동차에 새로운 기능이 하나 추가될 때마다 화면의 작은 회색 점들처럼 개별 제어장치인 </a:t>
            </a:r>
            <a:r>
              <a:rPr lang="en-US" altLang="ko-KR" dirty="0"/>
              <a:t>ECU</a:t>
            </a:r>
            <a:r>
              <a:rPr lang="ko-KR" altLang="en-US" dirty="0"/>
              <a:t>를 하나씩 계속 덧붙이는 방식입니다</a:t>
            </a:r>
            <a:r>
              <a:rPr lang="en-US" altLang="ko-KR" dirty="0"/>
              <a:t>. </a:t>
            </a:r>
            <a:r>
              <a:rPr lang="ko-KR" altLang="en-US" dirty="0"/>
              <a:t>마치 회사에 직원이 늘어나는데 부서나 팀장 없이 각자 일하는 것과 같습니다</a:t>
            </a:r>
            <a:r>
              <a:rPr lang="en-US" altLang="ko-KR" dirty="0"/>
              <a:t>. </a:t>
            </a:r>
            <a:r>
              <a:rPr lang="ko-KR" altLang="en-US" dirty="0"/>
              <a:t>이렇게 되면 전선도 복잡해지고</a:t>
            </a:r>
            <a:r>
              <a:rPr lang="en-US" altLang="ko-KR" dirty="0"/>
              <a:t>, </a:t>
            </a:r>
            <a:r>
              <a:rPr lang="ko-KR" altLang="en-US" dirty="0"/>
              <a:t>앞서 말씀드린 무선 업데이트</a:t>
            </a:r>
            <a:r>
              <a:rPr lang="en-US" altLang="ko-KR" dirty="0"/>
              <a:t>(OTA)</a:t>
            </a:r>
            <a:r>
              <a:rPr lang="ko-KR" altLang="en-US" dirty="0"/>
              <a:t>를 차 전체에 적용하기가 매우 비효율적입니다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중간에 있는 **</a:t>
            </a:r>
            <a:r>
              <a:rPr lang="en-US" altLang="ko-KR" dirty="0"/>
              <a:t>'</a:t>
            </a:r>
            <a:r>
              <a:rPr lang="ko-KR" altLang="en-US" dirty="0"/>
              <a:t>도메인 집중형</a:t>
            </a:r>
            <a:r>
              <a:rPr lang="en-US" altLang="ko-KR" dirty="0"/>
              <a:t>'**</a:t>
            </a:r>
            <a:r>
              <a:rPr lang="ko-KR" altLang="en-US" dirty="0"/>
              <a:t>으로 발전하게 됩니다</a:t>
            </a:r>
            <a:r>
              <a:rPr lang="en-US" altLang="ko-KR" dirty="0"/>
              <a:t>. </a:t>
            </a:r>
            <a:r>
              <a:rPr lang="ko-KR" altLang="en-US" dirty="0"/>
              <a:t>여기서 **도메인</a:t>
            </a:r>
            <a:r>
              <a:rPr lang="en-US" altLang="ko-KR" dirty="0"/>
              <a:t>(Domain)**</a:t>
            </a:r>
            <a:r>
              <a:rPr lang="ko-KR" altLang="en-US" dirty="0"/>
              <a:t>이란 </a:t>
            </a:r>
            <a:r>
              <a:rPr lang="en-US" altLang="ko-KR" dirty="0"/>
              <a:t>'</a:t>
            </a:r>
            <a:r>
              <a:rPr lang="ko-KR" altLang="en-US" dirty="0"/>
              <a:t>비슷한 기능들의 묶음</a:t>
            </a:r>
            <a:r>
              <a:rPr lang="en-US" altLang="ko-KR" dirty="0"/>
              <a:t>'</a:t>
            </a:r>
            <a:r>
              <a:rPr lang="ko-KR" altLang="en-US" dirty="0"/>
              <a:t>을 뜻합니다</a:t>
            </a:r>
            <a:r>
              <a:rPr lang="en-US" altLang="ko-KR" dirty="0"/>
              <a:t>. </a:t>
            </a:r>
            <a:r>
              <a:rPr lang="ko-KR" altLang="en-US" dirty="0"/>
              <a:t>주행 기능</a:t>
            </a:r>
            <a:r>
              <a:rPr lang="en-US" altLang="ko-KR" dirty="0"/>
              <a:t>, </a:t>
            </a:r>
            <a:r>
              <a:rPr lang="ko-KR" altLang="en-US" dirty="0"/>
              <a:t>인포테인먼트 기능 등 성격이 비슷한 것들끼리 초록색 점처럼 하나의 그룹으로 묶어서 제어하는 중간 단계의 통합 방식입니다</a:t>
            </a:r>
            <a:r>
              <a:rPr lang="en-US" altLang="ko-KR" dirty="0"/>
              <a:t>. </a:t>
            </a:r>
            <a:r>
              <a:rPr lang="ko-KR" altLang="en-US" dirty="0"/>
              <a:t>회사로 치면 드디어 관련 부서를 만들고 부서장을 둔 셈입니다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궁극적인 </a:t>
            </a:r>
            <a:r>
              <a:rPr lang="en-US" altLang="ko-KR" dirty="0"/>
              <a:t>SDV</a:t>
            </a:r>
            <a:r>
              <a:rPr lang="ko-KR" altLang="en-US" dirty="0"/>
              <a:t>의 모습이 바로 가장 오른쪽의 </a:t>
            </a:r>
            <a:r>
              <a:rPr lang="en-US" altLang="ko-KR" b="1" dirty="0"/>
              <a:t>'Zonal(</a:t>
            </a:r>
            <a:r>
              <a:rPr lang="ko-KR" altLang="en-US" b="1" dirty="0" err="1"/>
              <a:t>조널</a:t>
            </a:r>
            <a:r>
              <a:rPr lang="en-US" altLang="ko-KR" b="1" dirty="0"/>
              <a:t>) + HPC'</a:t>
            </a:r>
            <a:r>
              <a:rPr lang="ko-KR" altLang="en-US" dirty="0"/>
              <a:t> 구조입니다</a:t>
            </a:r>
            <a:r>
              <a:rPr lang="en-US" altLang="ko-KR" dirty="0"/>
              <a:t>. </a:t>
            </a:r>
            <a:r>
              <a:rPr lang="ko-KR" altLang="en-US" dirty="0"/>
              <a:t>이제는 기능별이 아니라 자동차의 물리적인 </a:t>
            </a:r>
            <a:r>
              <a:rPr lang="en-US" altLang="ko-KR" dirty="0"/>
              <a:t>'</a:t>
            </a:r>
            <a:r>
              <a:rPr lang="ko-KR" altLang="en-US" dirty="0"/>
              <a:t>구역</a:t>
            </a:r>
            <a:r>
              <a:rPr lang="en-US" altLang="ko-KR" dirty="0"/>
              <a:t>(Zone)'</a:t>
            </a:r>
            <a:r>
              <a:rPr lang="ko-KR" altLang="en-US" dirty="0"/>
              <a:t>을 나눠서 파란색 점인 구역 관리자를 두고</a:t>
            </a:r>
            <a:r>
              <a:rPr lang="en-US" altLang="ko-KR" dirty="0"/>
              <a:t>, </a:t>
            </a:r>
            <a:r>
              <a:rPr lang="ko-KR" altLang="en-US" dirty="0"/>
              <a:t>이들이 수집한 정보를 가운데 있는 커다란 보라색 점</a:t>
            </a:r>
            <a:r>
              <a:rPr lang="en-US" altLang="ko-KR" dirty="0"/>
              <a:t>, </a:t>
            </a:r>
            <a:r>
              <a:rPr lang="ko-KR" altLang="en-US" dirty="0"/>
              <a:t>즉 중앙의 고성능 컴퓨터</a:t>
            </a:r>
            <a:r>
              <a:rPr lang="en-US" altLang="ko-KR" dirty="0"/>
              <a:t>(</a:t>
            </a:r>
            <a:r>
              <a:rPr lang="en-US" altLang="ko-KR" b="1" dirty="0"/>
              <a:t>HPC</a:t>
            </a:r>
            <a:r>
              <a:rPr lang="en-US" altLang="ko-KR" dirty="0"/>
              <a:t>)</a:t>
            </a:r>
            <a:r>
              <a:rPr lang="ko-KR" altLang="en-US" dirty="0"/>
              <a:t>가 한 번에 통제합니다</a:t>
            </a:r>
            <a:r>
              <a:rPr lang="en-US" altLang="ko-KR" dirty="0"/>
              <a:t>. </a:t>
            </a:r>
            <a:r>
              <a:rPr lang="ko-KR" altLang="en-US" dirty="0"/>
              <a:t>각 지역 본부장과 총괄 </a:t>
            </a:r>
            <a:r>
              <a:rPr lang="en-US" altLang="ko-KR" dirty="0"/>
              <a:t>CEO</a:t>
            </a:r>
            <a:r>
              <a:rPr lang="ko-KR" altLang="en-US" dirty="0"/>
              <a:t>가 있는 아주 효율적인 조직이 되는 것이죠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결론적으로</a:t>
            </a:r>
            <a:r>
              <a:rPr lang="en-US" altLang="ko-KR" dirty="0"/>
              <a:t>, </a:t>
            </a:r>
            <a:r>
              <a:rPr lang="ko-KR" altLang="en-US" dirty="0"/>
              <a:t>이처럼 수많은 부품과 전선을 단순하게 통합하고 강력한 중앙 컴퓨터를 두는 구조적 혁신이 있어야만</a:t>
            </a:r>
            <a:r>
              <a:rPr lang="en-US" altLang="ko-KR" dirty="0"/>
              <a:t>, </a:t>
            </a:r>
            <a:r>
              <a:rPr lang="ko-KR" altLang="en-US" dirty="0"/>
              <a:t>자동차가 스마트폰처럼 빠르고 원활하게 소프트웨어 업데이트를 할 수 있게 됩니다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앞서 말씀드린 </a:t>
            </a:r>
            <a:r>
              <a:rPr lang="en-US" altLang="ko-KR" dirty="0"/>
              <a:t>SDV</a:t>
            </a:r>
            <a:r>
              <a:rPr lang="ko-KR" altLang="en-US" dirty="0"/>
              <a:t>의 효율적인 구조를 실제로 구현하기 위해 반드시 필요한 </a:t>
            </a:r>
            <a:r>
              <a:rPr lang="en-US" altLang="ko-KR" dirty="0"/>
              <a:t>'</a:t>
            </a:r>
            <a:r>
              <a:rPr lang="ko-KR" altLang="en-US" dirty="0"/>
              <a:t>네 가지 핵심 기술</a:t>
            </a:r>
            <a:r>
              <a:rPr lang="en-US" altLang="ko-KR" dirty="0"/>
              <a:t>'</a:t>
            </a:r>
            <a:r>
              <a:rPr lang="ko-KR" altLang="en-US" dirty="0"/>
              <a:t>을 살펴보겠습니다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번째는 </a:t>
            </a:r>
            <a:r>
              <a:rPr lang="en-US" altLang="ko-KR" b="1" dirty="0"/>
              <a:t>E/E </a:t>
            </a:r>
            <a:r>
              <a:rPr lang="ko-KR" altLang="en-US" b="1" dirty="0"/>
              <a:t>아키텍처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방금 전 장표에서 보셨듯</a:t>
            </a:r>
            <a:r>
              <a:rPr lang="en-US" altLang="ko-KR" dirty="0"/>
              <a:t>, </a:t>
            </a:r>
            <a:r>
              <a:rPr lang="ko-KR" altLang="en-US" dirty="0"/>
              <a:t>복잡하게 난립해 있던 수많은 소형 제어기</a:t>
            </a:r>
            <a:r>
              <a:rPr lang="en-US" altLang="ko-KR" dirty="0"/>
              <a:t>(ECU)</a:t>
            </a:r>
            <a:r>
              <a:rPr lang="ko-KR" altLang="en-US" dirty="0"/>
              <a:t>들을 구역별 통제 장치와 중앙의 고성능 컴퓨터</a:t>
            </a:r>
            <a:r>
              <a:rPr lang="en-US" altLang="ko-KR" dirty="0"/>
              <a:t>(HPC)</a:t>
            </a:r>
            <a:r>
              <a:rPr lang="ko-KR" altLang="en-US" dirty="0"/>
              <a:t>로 깔끔하게 통합하는 자동차의 새로운 </a:t>
            </a:r>
            <a:r>
              <a:rPr lang="en-US" altLang="ko-KR" dirty="0"/>
              <a:t>'</a:t>
            </a:r>
            <a:r>
              <a:rPr lang="ko-KR" altLang="en-US" dirty="0"/>
              <a:t>설계 뼈대</a:t>
            </a:r>
            <a:r>
              <a:rPr lang="en-US" altLang="ko-KR" dirty="0"/>
              <a:t>'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번째는 **차량용 이더넷</a:t>
            </a:r>
            <a:r>
              <a:rPr lang="en-US" altLang="ko-KR" dirty="0"/>
              <a:t>(Automotive Ethernet)**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중앙 컴퓨터가 각 구역을 완벽히 통제하려면 데이터가 </a:t>
            </a:r>
            <a:r>
              <a:rPr lang="ko-KR" altLang="en-US" dirty="0" err="1"/>
              <a:t>막힘없이</a:t>
            </a:r>
            <a:r>
              <a:rPr lang="ko-KR" altLang="en-US" dirty="0"/>
              <a:t> </a:t>
            </a:r>
            <a:r>
              <a:rPr lang="ko-KR" altLang="en-US" dirty="0" err="1"/>
              <a:t>흘러야겠죠</a:t>
            </a:r>
            <a:r>
              <a:rPr lang="en-US" altLang="ko-KR" dirty="0"/>
              <a:t>. </a:t>
            </a:r>
            <a:r>
              <a:rPr lang="ko-KR" altLang="en-US" dirty="0"/>
              <a:t>이를 위해 차량 내부에 사무실의 초고속 </a:t>
            </a:r>
            <a:r>
              <a:rPr lang="ko-KR" altLang="en-US" dirty="0" err="1"/>
              <a:t>랜선처럼</a:t>
            </a:r>
            <a:r>
              <a:rPr lang="ko-KR" altLang="en-US" dirty="0"/>
              <a:t> 대용량 데이터를 지연 없이 빠르게 주고받을 수 있는 </a:t>
            </a:r>
            <a:r>
              <a:rPr lang="en-US" altLang="ko-KR" dirty="0"/>
              <a:t>'</a:t>
            </a:r>
            <a:r>
              <a:rPr lang="ko-KR" altLang="en-US" dirty="0"/>
              <a:t>정보 고속도로</a:t>
            </a:r>
            <a:r>
              <a:rPr lang="en-US" altLang="ko-KR" dirty="0"/>
              <a:t>'</a:t>
            </a:r>
            <a:r>
              <a:rPr lang="ko-KR" altLang="en-US" dirty="0"/>
              <a:t>를 깔아주는 기술입니다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 번째는 **</a:t>
            </a:r>
            <a:r>
              <a:rPr lang="en-US" altLang="ko-KR" dirty="0"/>
              <a:t>OTA(</a:t>
            </a:r>
            <a:r>
              <a:rPr lang="ko-KR" altLang="en-US" dirty="0"/>
              <a:t>무선 업데이트</a:t>
            </a:r>
            <a:r>
              <a:rPr lang="en-US" altLang="ko-KR" dirty="0"/>
              <a:t>)**</a:t>
            </a:r>
            <a:r>
              <a:rPr lang="ko-KR" altLang="en-US" dirty="0"/>
              <a:t>의 진화입니다</a:t>
            </a:r>
            <a:r>
              <a:rPr lang="en-US" altLang="ko-KR" dirty="0"/>
              <a:t>. </a:t>
            </a:r>
            <a:r>
              <a:rPr lang="ko-KR" altLang="en-US" dirty="0"/>
              <a:t>우측 상단 그림을 참고해 주시면 좋은데요</a:t>
            </a:r>
            <a:r>
              <a:rPr lang="en-US" altLang="ko-KR" dirty="0"/>
              <a:t>. </a:t>
            </a:r>
            <a:r>
              <a:rPr lang="ko-KR" altLang="en-US" dirty="0"/>
              <a:t>과거에는 업데이트를 하려면 스마트폰 운영체제를 통째로 바꾸듯 차를 멈추고 펌웨어 전체를 갈아 끼워야 했습니다</a:t>
            </a:r>
            <a:r>
              <a:rPr lang="en-US" altLang="ko-KR" dirty="0"/>
              <a:t>. </a:t>
            </a:r>
            <a:r>
              <a:rPr lang="ko-KR" altLang="en-US" dirty="0"/>
              <a:t>하지만 이제는 스마트폰에 깔린 특정 앱만 개별적으로 업데이트하듯</a:t>
            </a:r>
            <a:r>
              <a:rPr lang="en-US" altLang="ko-KR" dirty="0"/>
              <a:t>, </a:t>
            </a:r>
            <a:r>
              <a:rPr lang="ko-KR" altLang="en-US" dirty="0"/>
              <a:t>차를 주행하는 중에도 필요한 기능만 가볍고 빠르게 업데이트하는 방식으로 고도화되고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 네 번째는 </a:t>
            </a:r>
            <a:r>
              <a:rPr lang="en-US" altLang="ko-KR" b="1" dirty="0"/>
              <a:t>AI</a:t>
            </a:r>
            <a:r>
              <a:rPr lang="ko-KR" altLang="en-US" b="1" dirty="0"/>
              <a:t>와 자율주행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우측 하단의 수많은 고성능 반도체 칩셋들처럼</a:t>
            </a:r>
            <a:r>
              <a:rPr lang="en-US" altLang="ko-KR" dirty="0"/>
              <a:t>, </a:t>
            </a:r>
            <a:r>
              <a:rPr lang="ko-KR" altLang="en-US" dirty="0"/>
              <a:t>이제 자동차에는 강력한 두뇌가 탑재됩니다</a:t>
            </a:r>
            <a:r>
              <a:rPr lang="en-US" altLang="ko-KR" dirty="0"/>
              <a:t>. </a:t>
            </a:r>
            <a:r>
              <a:rPr lang="ko-KR" altLang="en-US" dirty="0"/>
              <a:t>이를 통해 센서가 수집한 방대한 데이터를 </a:t>
            </a:r>
            <a:r>
              <a:rPr lang="en-US" altLang="ko-KR" dirty="0"/>
              <a:t>AI</a:t>
            </a:r>
            <a:r>
              <a:rPr lang="ko-KR" altLang="en-US" dirty="0"/>
              <a:t>가 실시간으로 처리하여 자율주행 성능을 높이고</a:t>
            </a:r>
            <a:r>
              <a:rPr lang="en-US" altLang="ko-KR" dirty="0"/>
              <a:t>, </a:t>
            </a:r>
            <a:r>
              <a:rPr lang="ko-KR" altLang="en-US" dirty="0"/>
              <a:t>운전석의 다양한 편의 기능까지 하나로 통합하게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FOTA (Firmware Over-The-Air):</a:t>
            </a:r>
            <a:r>
              <a:rPr lang="ko-KR" altLang="en-US" dirty="0"/>
              <a:t> 펌웨어</a:t>
            </a:r>
            <a:r>
              <a:rPr lang="en-US" altLang="ko-KR" dirty="0"/>
              <a:t>(</a:t>
            </a:r>
            <a:r>
              <a:rPr lang="ko-KR" altLang="en-US" dirty="0"/>
              <a:t>하드웨어를 제어하는 기본 소프트웨어</a:t>
            </a:r>
            <a:r>
              <a:rPr lang="en-US" altLang="ko-KR" dirty="0"/>
              <a:t>)</a:t>
            </a:r>
            <a:r>
              <a:rPr lang="ko-KR" altLang="en-US" dirty="0"/>
              <a:t>를 무선으로 업데이트하는 방식입니다</a:t>
            </a:r>
            <a:r>
              <a:rPr lang="en-US" altLang="ko-KR" dirty="0"/>
              <a:t>. </a:t>
            </a:r>
            <a:r>
              <a:rPr lang="ko-KR" altLang="en-US" dirty="0"/>
              <a:t>용량이 크고 시스템 전체를 건드리기 때문에 런타임</a:t>
            </a:r>
            <a:r>
              <a:rPr lang="en-US" altLang="ko-KR" dirty="0"/>
              <a:t>(</a:t>
            </a:r>
            <a:r>
              <a:rPr lang="ko-KR" altLang="en-US" dirty="0"/>
              <a:t>차량 작동 중</a:t>
            </a:r>
            <a:r>
              <a:rPr lang="en-US" altLang="ko-KR" dirty="0"/>
              <a:t>) </a:t>
            </a:r>
            <a:r>
              <a:rPr lang="ko-KR" altLang="en-US" dirty="0"/>
              <a:t>업데이트가 불가능하고 보통 차를 멈추고 재시동을 걸어야 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SOTA (Software Over-The-Air):</a:t>
            </a:r>
            <a:r>
              <a:rPr lang="ko-KR" altLang="en-US" dirty="0"/>
              <a:t> 애플리케이션 등 일반 소프트웨어를 무선으로 업데이트하는 방식입니다</a:t>
            </a:r>
            <a:r>
              <a:rPr lang="en-US" altLang="ko-KR" dirty="0"/>
              <a:t>. </a:t>
            </a:r>
            <a:r>
              <a:rPr lang="ko-KR" altLang="en-US" dirty="0"/>
              <a:t>용량이 작고 개별 앱 단위로 진행되므로</a:t>
            </a:r>
            <a:r>
              <a:rPr lang="en-US" altLang="ko-KR" dirty="0"/>
              <a:t>, </a:t>
            </a:r>
            <a:r>
              <a:rPr lang="ko-KR" altLang="en-US" dirty="0"/>
              <a:t>차를 타고 이동하는 중</a:t>
            </a:r>
            <a:r>
              <a:rPr lang="en-US" altLang="ko-KR" dirty="0"/>
              <a:t>(</a:t>
            </a:r>
            <a:r>
              <a:rPr lang="ko-KR" altLang="en-US" dirty="0"/>
              <a:t>런타임</a:t>
            </a:r>
            <a:r>
              <a:rPr lang="en-US" altLang="ko-KR" dirty="0"/>
              <a:t>)</a:t>
            </a:r>
            <a:r>
              <a:rPr lang="ko-KR" altLang="en-US" dirty="0"/>
              <a:t>에도 끊김 없이 기능 추가나 업데이트가 가능합니다</a:t>
            </a:r>
            <a:r>
              <a:rPr lang="en-US" altLang="ko-KR" dirty="0"/>
              <a:t>. SDV</a:t>
            </a:r>
            <a:r>
              <a:rPr lang="ko-KR" altLang="en-US" dirty="0"/>
              <a:t>는 궁극적으로 </a:t>
            </a:r>
            <a:r>
              <a:rPr lang="en-US" altLang="ko-KR" dirty="0"/>
              <a:t>SOTA</a:t>
            </a:r>
            <a:r>
              <a:rPr lang="ko-KR" altLang="en-US" dirty="0"/>
              <a:t>를 지향합니다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</a:t>
            </a:r>
            <a:r>
              <a:rPr lang="en-US" altLang="ko-KR" dirty="0"/>
              <a:t>5</a:t>
            </a:r>
            <a:r>
              <a:rPr lang="ko-KR" altLang="en-US" dirty="0"/>
              <a:t>번 장표에서는 앞서 말씀드린 수많은 기술들이 자동차 안에서 어떻게 하나의 </a:t>
            </a:r>
            <a:r>
              <a:rPr lang="en-US" altLang="ko-KR" dirty="0"/>
              <a:t>'</a:t>
            </a:r>
            <a:r>
              <a:rPr lang="ko-KR" altLang="en-US" dirty="0"/>
              <a:t>소프트웨어 뼈대</a:t>
            </a:r>
            <a:r>
              <a:rPr lang="en-US" altLang="ko-KR" dirty="0"/>
              <a:t>'</a:t>
            </a:r>
            <a:r>
              <a:rPr lang="ko-KR" altLang="en-US" dirty="0"/>
              <a:t>로 층층이 쌓이는지 살펴보겠습니다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복잡해 보이지만</a:t>
            </a:r>
            <a:r>
              <a:rPr lang="en-US" altLang="ko-KR" dirty="0"/>
              <a:t>, </a:t>
            </a:r>
            <a:r>
              <a:rPr lang="ko-KR" altLang="en-US" dirty="0"/>
              <a:t>스마트폰이나 컴퓨터의 작동 원리를 떠올리시면 아주 직관적입니다</a:t>
            </a:r>
            <a:r>
              <a:rPr lang="en-US" altLang="ko-KR" dirty="0"/>
              <a:t>. </a:t>
            </a:r>
            <a:r>
              <a:rPr lang="ko-KR" altLang="en-US" dirty="0"/>
              <a:t>왼쪽의 </a:t>
            </a:r>
            <a:r>
              <a:rPr lang="en-US" altLang="ko-KR" dirty="0"/>
              <a:t>5</a:t>
            </a:r>
            <a:r>
              <a:rPr lang="ko-KR" altLang="en-US" dirty="0"/>
              <a:t>가지 계층을 아래에서부터 위로 올라가며 핵심만 짚어보겠습니다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가장 밑바탕인 </a:t>
            </a:r>
            <a:r>
              <a:rPr lang="ko-KR" altLang="en-US" b="1" dirty="0" err="1"/>
              <a:t>컴퓨트</a:t>
            </a:r>
            <a:r>
              <a:rPr lang="en-US" altLang="ko-KR" b="1" dirty="0"/>
              <a:t>(Compute)</a:t>
            </a:r>
            <a:r>
              <a:rPr lang="ko-KR" altLang="en-US" dirty="0"/>
              <a:t> 계층은 자동차의 </a:t>
            </a:r>
            <a:r>
              <a:rPr lang="en-US" altLang="ko-KR" dirty="0"/>
              <a:t>'</a:t>
            </a:r>
            <a:r>
              <a:rPr lang="ko-KR" altLang="en-US" dirty="0"/>
              <a:t>물리적인 두뇌</a:t>
            </a:r>
            <a:r>
              <a:rPr lang="en-US" altLang="ko-KR" dirty="0"/>
              <a:t>'</a:t>
            </a:r>
            <a:r>
              <a:rPr lang="ko-KR" altLang="en-US" dirty="0"/>
              <a:t>들입니다</a:t>
            </a:r>
            <a:r>
              <a:rPr lang="en-US" altLang="ko-KR" dirty="0"/>
              <a:t>. </a:t>
            </a:r>
            <a:r>
              <a:rPr lang="ko-KR" altLang="en-US" dirty="0"/>
              <a:t>차량을 제어하는 각종 반도체 칩셋들과 앞서 강조했던 고성능 컴퓨터</a:t>
            </a:r>
            <a:r>
              <a:rPr lang="en-US" altLang="ko-KR" dirty="0"/>
              <a:t>(HPC)</a:t>
            </a:r>
            <a:r>
              <a:rPr lang="ko-KR" altLang="en-US" dirty="0"/>
              <a:t>가 자리 잡고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위를 덮고 있는 **미들웨어</a:t>
            </a:r>
            <a:r>
              <a:rPr lang="en-US" altLang="ko-KR" dirty="0"/>
              <a:t>(Middleware)**</a:t>
            </a:r>
            <a:r>
              <a:rPr lang="ko-KR" altLang="en-US" dirty="0"/>
              <a:t>는 쉽게 말해 스마트폰의 안드로이드나 </a:t>
            </a:r>
            <a:r>
              <a:rPr lang="en-US" altLang="ko-KR" dirty="0"/>
              <a:t>PC</a:t>
            </a:r>
            <a:r>
              <a:rPr lang="ko-KR" altLang="en-US" dirty="0"/>
              <a:t>의 윈도우 같은 </a:t>
            </a:r>
            <a:r>
              <a:rPr lang="en-US" altLang="ko-KR" dirty="0"/>
              <a:t>'</a:t>
            </a:r>
            <a:r>
              <a:rPr lang="ko-KR" altLang="en-US" dirty="0"/>
              <a:t>운영체제</a:t>
            </a:r>
            <a:r>
              <a:rPr lang="en-US" altLang="ko-KR" dirty="0"/>
              <a:t>(OS)' </a:t>
            </a:r>
            <a:r>
              <a:rPr lang="ko-KR" altLang="en-US" dirty="0"/>
              <a:t>역할입니다</a:t>
            </a:r>
            <a:r>
              <a:rPr lang="en-US" altLang="ko-KR" dirty="0"/>
              <a:t>. </a:t>
            </a:r>
            <a:r>
              <a:rPr lang="ko-KR" altLang="en-US" dirty="0"/>
              <a:t>아래에 있는 하드웨어 부품들과 위에 있는 소프트웨어들이 서로 충돌 없이 부드럽게 돌아가도록 중간에서 조율해 줍니다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그다음</a:t>
            </a:r>
            <a:r>
              <a:rPr lang="ko-KR" altLang="en-US" dirty="0"/>
              <a:t> </a:t>
            </a:r>
            <a:r>
              <a:rPr lang="en-US" altLang="ko-KR" b="1" dirty="0"/>
              <a:t>API</a:t>
            </a:r>
            <a:r>
              <a:rPr lang="ko-KR" altLang="en-US" dirty="0"/>
              <a:t> 계층은 서로 다른 프로그램들이 원활하게 소통할 수 있게 해주는 </a:t>
            </a:r>
            <a:r>
              <a:rPr lang="en-US" altLang="ko-KR" dirty="0"/>
              <a:t>'</a:t>
            </a:r>
            <a:r>
              <a:rPr lang="ko-KR" altLang="en-US" dirty="0"/>
              <a:t>표준 언어</a:t>
            </a:r>
            <a:r>
              <a:rPr lang="en-US" altLang="ko-KR" dirty="0"/>
              <a:t>' </a:t>
            </a:r>
            <a:r>
              <a:rPr lang="ko-KR" altLang="en-US" dirty="0"/>
              <a:t>또는 </a:t>
            </a:r>
            <a:r>
              <a:rPr lang="en-US" altLang="ko-KR" dirty="0"/>
              <a:t>'</a:t>
            </a:r>
            <a:r>
              <a:rPr lang="ko-KR" altLang="en-US" dirty="0"/>
              <a:t>번역기</a:t>
            </a:r>
            <a:r>
              <a:rPr lang="en-US" altLang="ko-KR" dirty="0"/>
              <a:t>'</a:t>
            </a:r>
            <a:r>
              <a:rPr lang="ko-KR" altLang="en-US" dirty="0"/>
              <a:t>라고 보시면 됩니다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API</a:t>
            </a:r>
            <a:r>
              <a:rPr lang="ko-KR" altLang="en-US" dirty="0"/>
              <a:t>라는 공통 규칙이 잘 잡혀 있어야</a:t>
            </a:r>
            <a:r>
              <a:rPr lang="en-US" altLang="ko-KR" dirty="0"/>
              <a:t>, </a:t>
            </a:r>
            <a:r>
              <a:rPr lang="ko-KR" altLang="en-US" dirty="0"/>
              <a:t>나중에 새로운 기능을 추가하거나 업데이트할 때 시스템 전체를 뜯어고칠 필요가 없습니다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탄탄한 기반 위에 올라가는 것이 바로 **애플리케이션</a:t>
            </a:r>
            <a:r>
              <a:rPr lang="en-US" altLang="ko-KR" dirty="0"/>
              <a:t>(Application)**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자율주행</a:t>
            </a:r>
            <a:r>
              <a:rPr lang="en-US" altLang="ko-KR" dirty="0"/>
              <a:t>, </a:t>
            </a:r>
            <a:r>
              <a:rPr lang="ko-KR" altLang="en-US" dirty="0"/>
              <a:t>인포테인먼트</a:t>
            </a:r>
            <a:r>
              <a:rPr lang="en-US" altLang="ko-KR" dirty="0"/>
              <a:t>, </a:t>
            </a:r>
            <a:r>
              <a:rPr lang="ko-KR" altLang="en-US" dirty="0"/>
              <a:t>차량 제어 등 사용자가 실제로 체감하고 사용하는 기능</a:t>
            </a:r>
            <a:r>
              <a:rPr lang="en-US" altLang="ko-KR" dirty="0"/>
              <a:t>(</a:t>
            </a:r>
            <a:r>
              <a:rPr lang="ko-KR" altLang="en-US" dirty="0"/>
              <a:t>앱</a:t>
            </a:r>
            <a:r>
              <a:rPr lang="en-US" altLang="ko-KR" dirty="0"/>
              <a:t>)</a:t>
            </a:r>
            <a:r>
              <a:rPr lang="ko-KR" altLang="en-US" dirty="0"/>
              <a:t>들이 바로 이 층에 위치합니다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이 모든 것을 외부에서 통제하는 거대한 두뇌</a:t>
            </a:r>
            <a:r>
              <a:rPr lang="en-US" altLang="ko-KR" dirty="0"/>
              <a:t>, **</a:t>
            </a:r>
            <a:r>
              <a:rPr lang="ko-KR" altLang="en-US" dirty="0"/>
              <a:t>클라우드</a:t>
            </a:r>
            <a:r>
              <a:rPr lang="en-US" altLang="ko-KR" dirty="0"/>
              <a:t>(Cloud)**</a:t>
            </a:r>
            <a:r>
              <a:rPr lang="ko-KR" altLang="en-US" dirty="0"/>
              <a:t>가 있습니다</a:t>
            </a:r>
            <a:r>
              <a:rPr lang="en-US" altLang="ko-KR" dirty="0"/>
              <a:t>. </a:t>
            </a:r>
            <a:r>
              <a:rPr lang="ko-KR" altLang="en-US" dirty="0"/>
              <a:t>수많은 차량의 상태를 실시간으로 모니터링하고</a:t>
            </a:r>
            <a:r>
              <a:rPr lang="en-US" altLang="ko-KR" dirty="0"/>
              <a:t>, </a:t>
            </a:r>
            <a:r>
              <a:rPr lang="ko-KR" altLang="en-US" dirty="0"/>
              <a:t>방대한 데이터를 처리하며</a:t>
            </a:r>
            <a:r>
              <a:rPr lang="en-US" altLang="ko-KR" dirty="0"/>
              <a:t>, </a:t>
            </a:r>
            <a:r>
              <a:rPr lang="ko-KR" altLang="en-US" dirty="0"/>
              <a:t>새로운 소프트웨어 업데이트를 무선으로 배포하는 관제 센터 역할을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결론적으로 </a:t>
            </a:r>
            <a:r>
              <a:rPr lang="en-US" altLang="ko-KR" dirty="0"/>
              <a:t>SDV</a:t>
            </a:r>
            <a:r>
              <a:rPr lang="ko-KR" altLang="en-US" dirty="0"/>
              <a:t>의 소프트웨어 구조란</a:t>
            </a:r>
            <a:r>
              <a:rPr lang="en-US" altLang="ko-KR" dirty="0"/>
              <a:t>, </a:t>
            </a:r>
            <a:r>
              <a:rPr lang="ko-KR" altLang="en-US" dirty="0"/>
              <a:t>밑바탕의 반도체 칩부터 맨 위 외부 클라우드까지 이 </a:t>
            </a:r>
            <a:r>
              <a:rPr lang="en-US" altLang="ko-KR" dirty="0"/>
              <a:t>5</a:t>
            </a:r>
            <a:r>
              <a:rPr lang="ko-KR" altLang="en-US" dirty="0"/>
              <a:t>개 계층이 마치 하나의 생명체처럼 유기적으로 연결된 시스템이라고 이해해 주시면 되겠습니다</a:t>
            </a:r>
            <a:r>
              <a:rPr lang="en-US" altLang="ko-KR" dirty="0"/>
              <a:t>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왼쪽 위를 보시면 </a:t>
            </a:r>
            <a:r>
              <a:rPr lang="en-US" altLang="ko-KR" b="1" dirty="0"/>
              <a:t>'</a:t>
            </a:r>
            <a:r>
              <a:rPr lang="ko-KR" altLang="en-US" b="1" dirty="0"/>
              <a:t>전통적 개발</a:t>
            </a:r>
            <a:r>
              <a:rPr lang="en-US" altLang="ko-KR" b="1" dirty="0"/>
              <a:t>'</a:t>
            </a:r>
            <a:r>
              <a:rPr lang="ko-KR" altLang="en-US" dirty="0"/>
              <a:t> 방식이 나옵니다</a:t>
            </a:r>
            <a:r>
              <a:rPr lang="en-US" altLang="ko-KR" dirty="0"/>
              <a:t>. </a:t>
            </a:r>
            <a:r>
              <a:rPr lang="ko-KR" altLang="en-US" dirty="0"/>
              <a:t>과거에는 차종별로</a:t>
            </a:r>
            <a:r>
              <a:rPr lang="en-US" altLang="ko-KR" dirty="0"/>
              <a:t>, </a:t>
            </a:r>
            <a:r>
              <a:rPr lang="ko-KR" altLang="en-US" dirty="0"/>
              <a:t>또 부품별로 따로따로 소프트웨어를 만들었습니다</a:t>
            </a:r>
            <a:r>
              <a:rPr lang="en-US" altLang="ko-KR" dirty="0"/>
              <a:t>. </a:t>
            </a:r>
            <a:r>
              <a:rPr lang="ko-KR" altLang="en-US" dirty="0"/>
              <a:t>가장 큰 특징은 </a:t>
            </a:r>
            <a:r>
              <a:rPr lang="en-US" altLang="ko-KR" dirty="0"/>
              <a:t>'</a:t>
            </a:r>
            <a:r>
              <a:rPr lang="ko-KR" altLang="en-US" dirty="0"/>
              <a:t>출시 시점</a:t>
            </a:r>
            <a:r>
              <a:rPr lang="en-US" altLang="ko-KR" dirty="0"/>
              <a:t>'</a:t>
            </a:r>
            <a:r>
              <a:rPr lang="ko-KR" altLang="en-US" dirty="0"/>
              <a:t>에 모든 것이 맞춰져 있다는 겁니다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공장에서 차가 완성되어 나오는 순간 개발자들의 역할은 끝났고</a:t>
            </a:r>
            <a:r>
              <a:rPr lang="en-US" altLang="ko-KR" dirty="0"/>
              <a:t>, </a:t>
            </a:r>
            <a:r>
              <a:rPr lang="ko-KR" altLang="en-US" dirty="0"/>
              <a:t>소프트웨어와 하드웨어는 찰떡처럼 굳어져서 바꿀 수 없었습니다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아래쪽의 </a:t>
            </a:r>
            <a:r>
              <a:rPr lang="en-US" altLang="ko-KR" b="1" dirty="0"/>
              <a:t>'SDV </a:t>
            </a:r>
            <a:r>
              <a:rPr lang="ko-KR" altLang="en-US" b="1" dirty="0"/>
              <a:t>개발</a:t>
            </a:r>
            <a:r>
              <a:rPr lang="en-US" altLang="ko-KR" b="1" dirty="0"/>
              <a:t>'</a:t>
            </a:r>
            <a:r>
              <a:rPr lang="ko-KR" altLang="en-US" dirty="0"/>
              <a:t> 방식은 다릅니다</a:t>
            </a:r>
            <a:r>
              <a:rPr lang="en-US" altLang="ko-KR" dirty="0"/>
              <a:t>. </a:t>
            </a:r>
            <a:r>
              <a:rPr lang="ko-KR" altLang="en-US" dirty="0"/>
              <a:t>이제 자동차 회사는 스마트폰 </a:t>
            </a:r>
            <a:r>
              <a:rPr lang="en-US" altLang="ko-KR" dirty="0"/>
              <a:t>OS</a:t>
            </a:r>
            <a:r>
              <a:rPr lang="ko-KR" altLang="en-US" dirty="0"/>
              <a:t>를 만드는 </a:t>
            </a:r>
            <a:r>
              <a:rPr lang="en-US" altLang="ko-KR" dirty="0"/>
              <a:t>IT </a:t>
            </a:r>
            <a:r>
              <a:rPr lang="ko-KR" altLang="en-US" dirty="0"/>
              <a:t>기업처럼 일합니다</a:t>
            </a:r>
            <a:r>
              <a:rPr lang="en-US" altLang="ko-KR" dirty="0"/>
              <a:t>. </a:t>
            </a:r>
            <a:r>
              <a:rPr lang="ko-KR" altLang="en-US" dirty="0"/>
              <a:t>장표에 적힌 **</a:t>
            </a:r>
            <a:r>
              <a:rPr lang="en-US" altLang="ko-KR" dirty="0"/>
              <a:t>Agile(</a:t>
            </a:r>
            <a:r>
              <a:rPr lang="ko-KR" altLang="en-US" dirty="0"/>
              <a:t>애자일</a:t>
            </a:r>
            <a:r>
              <a:rPr lang="en-US" altLang="ko-KR" dirty="0"/>
              <a:t>)**</a:t>
            </a:r>
            <a:r>
              <a:rPr lang="ko-KR" altLang="en-US" dirty="0"/>
              <a:t>이나 </a:t>
            </a:r>
            <a:r>
              <a:rPr lang="en-US" altLang="ko-KR" b="1" dirty="0"/>
              <a:t>DevOps(</a:t>
            </a:r>
            <a:r>
              <a:rPr lang="ko-KR" altLang="en-US" b="1" dirty="0" err="1"/>
              <a:t>데브옵스</a:t>
            </a:r>
            <a:r>
              <a:rPr lang="en-US" altLang="ko-KR" b="1" dirty="0"/>
              <a:t>)</a:t>
            </a:r>
            <a:r>
              <a:rPr lang="ko-KR" altLang="en-US" dirty="0"/>
              <a:t> 같은 용어들이 바로 그 증거인데요</a:t>
            </a:r>
            <a:r>
              <a:rPr lang="en-US" altLang="ko-KR" dirty="0"/>
              <a:t>. </a:t>
            </a:r>
            <a:r>
              <a:rPr lang="ko-KR" altLang="en-US" dirty="0"/>
              <a:t>완벽한 것을 만들기 위해 몇 년을 기다리는 것이 아니라</a:t>
            </a:r>
            <a:r>
              <a:rPr lang="en-US" altLang="ko-KR" dirty="0"/>
              <a:t>, </a:t>
            </a:r>
            <a:r>
              <a:rPr lang="ko-KR" altLang="en-US" dirty="0"/>
              <a:t>핵심 기능을 먼저 통합 플랫폼으로 빠르게 만들고</a:t>
            </a:r>
            <a:r>
              <a:rPr lang="en-US" altLang="ko-KR" dirty="0"/>
              <a:t>, </a:t>
            </a:r>
            <a:r>
              <a:rPr lang="ko-KR" altLang="en-US" dirty="0"/>
              <a:t>지속적으로 수정하고 배포하는 유연한 방식으로 바뀐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오른쪽에 있는 </a:t>
            </a:r>
            <a:r>
              <a:rPr lang="ko-KR" altLang="en-US" b="1" dirty="0"/>
              <a:t>파란색 무한대</a:t>
            </a:r>
            <a:r>
              <a:rPr lang="en-US" altLang="ko-KR" b="1" dirty="0"/>
              <a:t>(∞) </a:t>
            </a:r>
            <a:r>
              <a:rPr lang="ko-KR" altLang="en-US" b="1" dirty="0"/>
              <a:t>모양의 그림</a:t>
            </a:r>
            <a:r>
              <a:rPr lang="ko-KR" altLang="en-US" dirty="0"/>
              <a:t>을 봐주시기 바랍니다</a:t>
            </a:r>
            <a:r>
              <a:rPr lang="en-US" altLang="ko-KR" dirty="0"/>
              <a:t>. </a:t>
            </a:r>
            <a:r>
              <a:rPr lang="ko-KR" altLang="en-US" dirty="0"/>
              <a:t>이게 바로 </a:t>
            </a:r>
            <a:r>
              <a:rPr lang="ko-KR" altLang="en-US" dirty="0" err="1"/>
              <a:t>데브옵스의</a:t>
            </a:r>
            <a:r>
              <a:rPr lang="ko-KR" altLang="en-US" dirty="0"/>
              <a:t> 핵심을 보여줍니다</a:t>
            </a:r>
            <a:r>
              <a:rPr lang="en-US" altLang="ko-KR" dirty="0"/>
              <a:t>. </a:t>
            </a:r>
            <a:r>
              <a:rPr lang="ko-KR" altLang="en-US" dirty="0"/>
              <a:t>개발</a:t>
            </a:r>
            <a:r>
              <a:rPr lang="en-US" altLang="ko-KR" dirty="0"/>
              <a:t>(Dev)</a:t>
            </a:r>
            <a:r>
              <a:rPr lang="ko-KR" altLang="en-US" dirty="0"/>
              <a:t>과 운영</a:t>
            </a:r>
            <a:r>
              <a:rPr lang="en-US" altLang="ko-KR" dirty="0"/>
              <a:t>(Ops)</a:t>
            </a:r>
            <a:r>
              <a:rPr lang="ko-KR" altLang="en-US" dirty="0"/>
              <a:t>이 분리되어 있는 것이 아니라</a:t>
            </a:r>
            <a:r>
              <a:rPr lang="en-US" altLang="ko-KR" dirty="0"/>
              <a:t>, </a:t>
            </a:r>
            <a:r>
              <a:rPr lang="ko-KR" altLang="en-US" dirty="0"/>
              <a:t>차가 출고된 이후에도 끊임없이 데이터를 모니터링하고</a:t>
            </a:r>
            <a:r>
              <a:rPr lang="en-US" altLang="ko-KR" dirty="0"/>
              <a:t>, </a:t>
            </a:r>
            <a:r>
              <a:rPr lang="ko-KR" altLang="en-US" dirty="0"/>
              <a:t>새로운 코드를 짜고</a:t>
            </a:r>
            <a:r>
              <a:rPr lang="en-US" altLang="ko-KR" dirty="0"/>
              <a:t>, </a:t>
            </a:r>
            <a:r>
              <a:rPr lang="ko-KR" altLang="en-US" dirty="0"/>
              <a:t>가상 클라우드에서 테스트한 뒤</a:t>
            </a:r>
            <a:r>
              <a:rPr lang="en-US" altLang="ko-KR" dirty="0"/>
              <a:t>, </a:t>
            </a:r>
            <a:r>
              <a:rPr lang="ko-KR" altLang="en-US" dirty="0"/>
              <a:t>다시 </a:t>
            </a:r>
            <a:r>
              <a:rPr lang="en-US" altLang="ko-KR" dirty="0"/>
              <a:t>OTA</a:t>
            </a:r>
            <a:r>
              <a:rPr lang="ko-KR" altLang="en-US" dirty="0"/>
              <a:t>로 차에 배포하는 과정이 </a:t>
            </a:r>
            <a:r>
              <a:rPr lang="ko-KR" altLang="en-US" b="1" dirty="0"/>
              <a:t>무한 반복</a:t>
            </a:r>
            <a:r>
              <a:rPr lang="ko-KR" altLang="en-US" dirty="0"/>
              <a:t>되는 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결론적으로</a:t>
            </a:r>
            <a:r>
              <a:rPr lang="en-US" altLang="ko-KR" dirty="0"/>
              <a:t>, </a:t>
            </a:r>
            <a:r>
              <a:rPr lang="ko-KR" altLang="en-US" dirty="0"/>
              <a:t>이제 자동차의 개발은 </a:t>
            </a:r>
            <a:r>
              <a:rPr lang="en-US" altLang="ko-KR" dirty="0"/>
              <a:t>'</a:t>
            </a:r>
            <a:r>
              <a:rPr lang="ko-KR" altLang="en-US" dirty="0"/>
              <a:t>공장 문을 나설 때</a:t>
            </a:r>
            <a:r>
              <a:rPr lang="en-US" altLang="ko-KR" dirty="0"/>
              <a:t>' </a:t>
            </a:r>
            <a:r>
              <a:rPr lang="ko-KR" altLang="en-US" dirty="0"/>
              <a:t>끝나는 것이 아니라</a:t>
            </a:r>
            <a:r>
              <a:rPr lang="en-US" altLang="ko-KR" dirty="0"/>
              <a:t>, '</a:t>
            </a:r>
            <a:r>
              <a:rPr lang="ko-KR" altLang="en-US" dirty="0"/>
              <a:t>고객이 차를 타는 내내</a:t>
            </a:r>
            <a:r>
              <a:rPr lang="en-US" altLang="ko-KR" dirty="0"/>
              <a:t>' </a:t>
            </a:r>
            <a:r>
              <a:rPr lang="ko-KR" altLang="en-US" dirty="0"/>
              <a:t>계속해서 이어지게 됩니다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7</a:t>
            </a:r>
            <a:r>
              <a:rPr lang="ko-KR" altLang="en-US" dirty="0"/>
              <a:t>번 장표입니다</a:t>
            </a:r>
            <a:r>
              <a:rPr lang="en-US" altLang="ko-KR" dirty="0"/>
              <a:t>. SDV</a:t>
            </a:r>
            <a:r>
              <a:rPr lang="ko-KR" altLang="en-US" dirty="0"/>
              <a:t>가 가져올 혁신은 명확하지만</a:t>
            </a:r>
            <a:r>
              <a:rPr lang="en-US" altLang="ko-KR" dirty="0"/>
              <a:t>, </a:t>
            </a:r>
            <a:r>
              <a:rPr lang="ko-KR" altLang="en-US" dirty="0"/>
              <a:t>현실적으로 우리가 넘어야 할 </a:t>
            </a:r>
            <a:r>
              <a:rPr lang="en-US" altLang="ko-KR" dirty="0"/>
              <a:t>5</a:t>
            </a:r>
            <a:r>
              <a:rPr lang="ko-KR" altLang="en-US" dirty="0"/>
              <a:t>가지 주요 과제들이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번째</a:t>
            </a:r>
            <a:r>
              <a:rPr lang="en-US" altLang="ko-KR" dirty="0"/>
              <a:t>, </a:t>
            </a:r>
            <a:r>
              <a:rPr lang="ko-KR" altLang="en-US" b="1" dirty="0"/>
              <a:t>실시간성과 안전성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스마트폰은 쓰다가 멈추면 </a:t>
            </a:r>
            <a:r>
              <a:rPr lang="ko-KR" altLang="en-US" dirty="0" err="1"/>
              <a:t>재부팅하면</a:t>
            </a:r>
            <a:r>
              <a:rPr lang="ko-KR" altLang="en-US" dirty="0"/>
              <a:t> 그만이지만</a:t>
            </a:r>
            <a:r>
              <a:rPr lang="en-US" altLang="ko-KR" dirty="0"/>
              <a:t>, </a:t>
            </a:r>
            <a:r>
              <a:rPr lang="ko-KR" altLang="en-US" dirty="0"/>
              <a:t>시속 </a:t>
            </a:r>
            <a:r>
              <a:rPr lang="en-US" altLang="ko-KR" dirty="0"/>
              <a:t>100km</a:t>
            </a:r>
            <a:r>
              <a:rPr lang="ko-KR" altLang="en-US" dirty="0"/>
              <a:t>로 달리는 자동차의 소프트웨어가 멈추는 것은 생명과 직결됩니다</a:t>
            </a:r>
            <a:r>
              <a:rPr lang="en-US" altLang="ko-KR" dirty="0"/>
              <a:t>. </a:t>
            </a:r>
            <a:r>
              <a:rPr lang="ko-KR" altLang="en-US" dirty="0"/>
              <a:t>따라서 수많은 첨단 기능이 돌아가는 와중에도</a:t>
            </a:r>
            <a:r>
              <a:rPr lang="en-US" altLang="ko-KR" dirty="0"/>
              <a:t>, </a:t>
            </a:r>
            <a:r>
              <a:rPr lang="ko-KR" altLang="en-US" dirty="0"/>
              <a:t>브레이크나 </a:t>
            </a:r>
            <a:r>
              <a:rPr lang="ko-KR" altLang="en-US" dirty="0" err="1"/>
              <a:t>조향</a:t>
            </a:r>
            <a:r>
              <a:rPr lang="ko-KR" altLang="en-US" dirty="0"/>
              <a:t> 같은 핵심 안전 기능은 </a:t>
            </a:r>
            <a:r>
              <a:rPr lang="en-US" altLang="ko-KR" dirty="0"/>
              <a:t>0.001</a:t>
            </a:r>
            <a:r>
              <a:rPr lang="ko-KR" altLang="en-US" dirty="0"/>
              <a:t>초의 오차도 없이 완벽하게 작동하도록 설계하는 것이 최우선 과제입니다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</a:t>
            </a:r>
            <a:r>
              <a:rPr lang="en-US" altLang="ko-KR" dirty="0"/>
              <a:t>, </a:t>
            </a:r>
            <a:r>
              <a:rPr lang="en-US" altLang="ko-KR" b="1" dirty="0"/>
              <a:t>OTA(</a:t>
            </a:r>
            <a:r>
              <a:rPr lang="ko-KR" altLang="en-US" b="1" dirty="0"/>
              <a:t>무선 업데이트</a:t>
            </a:r>
            <a:r>
              <a:rPr lang="en-US" altLang="ko-KR" b="1" dirty="0"/>
              <a:t>) </a:t>
            </a:r>
            <a:r>
              <a:rPr lang="ko-KR" altLang="en-US" b="1" dirty="0"/>
              <a:t>검증과 보안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무선으로 기능이 추가되는 만큼 해킹의 위험도 커집니다</a:t>
            </a:r>
            <a:r>
              <a:rPr lang="en-US" altLang="ko-KR" dirty="0"/>
              <a:t>. 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업데이트 도중 오류가 발생했을 때 차가 멈추지 않고 즉시 이전의 안전한 상태로 되돌아가는 </a:t>
            </a:r>
            <a:r>
              <a:rPr lang="en-US" altLang="ko-KR" dirty="0"/>
              <a:t>'</a:t>
            </a:r>
            <a:r>
              <a:rPr lang="ko-KR" altLang="en-US" dirty="0"/>
              <a:t>롤백</a:t>
            </a:r>
            <a:r>
              <a:rPr lang="en-US" altLang="ko-KR" dirty="0"/>
              <a:t>(Rollback)' </a:t>
            </a:r>
            <a:r>
              <a:rPr lang="ko-KR" altLang="en-US" dirty="0"/>
              <a:t>시스템 등 철저한 안전망이 필요합니다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 번째</a:t>
            </a:r>
            <a:r>
              <a:rPr lang="en-US" altLang="ko-KR" dirty="0"/>
              <a:t>, </a:t>
            </a:r>
            <a:r>
              <a:rPr lang="ko-KR" altLang="en-US" b="1" dirty="0"/>
              <a:t>표준화 문제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현재는 자동차 제조사마다 소프트웨어 언어나 통신 규칙이 </a:t>
            </a:r>
            <a:r>
              <a:rPr lang="ko-KR" altLang="en-US" dirty="0" err="1"/>
              <a:t>제각각입니다</a:t>
            </a:r>
            <a:r>
              <a:rPr lang="en-US" altLang="ko-KR" dirty="0"/>
              <a:t>. </a:t>
            </a:r>
            <a:r>
              <a:rPr lang="ko-KR" altLang="en-US" dirty="0"/>
              <a:t>스마트폰 생태계가 안드로이드와 </a:t>
            </a:r>
            <a:r>
              <a:rPr lang="en-US" altLang="ko-KR" dirty="0"/>
              <a:t>iOS</a:t>
            </a:r>
            <a:r>
              <a:rPr lang="ko-KR" altLang="en-US" dirty="0"/>
              <a:t>를 중심으로 폭발적으로 성장했듯</a:t>
            </a:r>
            <a:r>
              <a:rPr lang="en-US" altLang="ko-KR" dirty="0"/>
              <a:t>, </a:t>
            </a:r>
            <a:r>
              <a:rPr lang="ko-KR" altLang="en-US" dirty="0"/>
              <a:t>자동차 역시 서로 다른 시스템들이 원활하게 소통할 수 있도록 글로벌 표준을 맞추는 작업이 시급합니다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네 번째</a:t>
            </a:r>
            <a:r>
              <a:rPr lang="en-US" altLang="ko-KR" dirty="0"/>
              <a:t>, </a:t>
            </a:r>
            <a:r>
              <a:rPr lang="ko-KR" altLang="en-US" b="1" dirty="0"/>
              <a:t>복잡성과 비용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부품을 찍어내는 제조업과 코드를 짜는 </a:t>
            </a:r>
            <a:r>
              <a:rPr lang="en-US" altLang="ko-KR" dirty="0"/>
              <a:t>IT </a:t>
            </a:r>
            <a:r>
              <a:rPr lang="ko-KR" altLang="en-US" dirty="0"/>
              <a:t>산업은 개발 속도나 방식이 완전히 다릅니다</a:t>
            </a:r>
            <a:r>
              <a:rPr lang="en-US" altLang="ko-KR" dirty="0"/>
              <a:t>. </a:t>
            </a:r>
            <a:r>
              <a:rPr lang="ko-KR" altLang="en-US" dirty="0"/>
              <a:t>이 둘을 억지로 하나로 맞물려 돌리다 보니</a:t>
            </a:r>
            <a:r>
              <a:rPr lang="en-US" altLang="ko-KR" dirty="0"/>
              <a:t>, </a:t>
            </a:r>
            <a:r>
              <a:rPr lang="ko-KR" altLang="en-US" dirty="0"/>
              <a:t>초기 시스템 구축과 운영에 막대한 비용이 들어가고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 다섯 번째</a:t>
            </a:r>
            <a:r>
              <a:rPr lang="en-US" altLang="ko-KR" dirty="0"/>
              <a:t>, </a:t>
            </a:r>
            <a:r>
              <a:rPr lang="ko-KR" altLang="en-US" dirty="0"/>
              <a:t>어찌 보면 가장 어려운 과제인 </a:t>
            </a:r>
            <a:r>
              <a:rPr lang="ko-KR" altLang="en-US" b="1" dirty="0"/>
              <a:t>조직과 인재의 전환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기존의 기계 공학 중심이었던 자동차 회사가 이제는 거대한 </a:t>
            </a:r>
            <a:r>
              <a:rPr lang="en-US" altLang="ko-KR" dirty="0"/>
              <a:t>IT </a:t>
            </a:r>
            <a:r>
              <a:rPr lang="ko-KR" altLang="en-US" dirty="0"/>
              <a:t>소프트웨어 회사로 탈바꿈해야 합니다</a:t>
            </a:r>
            <a:r>
              <a:rPr lang="en-US" altLang="ko-KR" dirty="0"/>
              <a:t>. </a:t>
            </a:r>
            <a:r>
              <a:rPr lang="ko-KR" altLang="en-US" dirty="0"/>
              <a:t>우수한 소프트웨어 개발자를 확보하고 기업 문화를 바꾸는 체질 개선이 필수적입니다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결국 이 </a:t>
            </a:r>
            <a:r>
              <a:rPr lang="en-US" altLang="ko-KR" dirty="0"/>
              <a:t>5</a:t>
            </a:r>
            <a:r>
              <a:rPr lang="ko-KR" altLang="en-US" dirty="0"/>
              <a:t>가지 허들을 얼마나 빠르고 안전하게 넘느냐가 미래 자동차 시장의 승패를 좌우할 것입니다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드디어 마지막 장표입니다</a:t>
            </a:r>
            <a:r>
              <a:rPr lang="en-US" altLang="ko-KR" dirty="0"/>
              <a:t>. </a:t>
            </a:r>
            <a:r>
              <a:rPr lang="ko-KR" altLang="en-US" dirty="0"/>
              <a:t>지금까지 다소 복잡한 기술 이야기들을 나누었는데요</a:t>
            </a:r>
            <a:r>
              <a:rPr lang="en-US" altLang="ko-KR" dirty="0"/>
              <a:t>, </a:t>
            </a:r>
            <a:r>
              <a:rPr lang="ko-KR" altLang="en-US" dirty="0"/>
              <a:t>오늘 말씀드린 내용을 바탕으로 </a:t>
            </a:r>
            <a:r>
              <a:rPr lang="en-US" altLang="ko-KR" dirty="0"/>
              <a:t>SDV</a:t>
            </a:r>
            <a:r>
              <a:rPr lang="ko-KR" altLang="en-US" dirty="0"/>
              <a:t>가 도대체 왜 중요한지 </a:t>
            </a:r>
            <a:r>
              <a:rPr lang="en-US" altLang="ko-KR" b="1" dirty="0"/>
              <a:t>3</a:t>
            </a:r>
            <a:r>
              <a:rPr lang="ko-KR" altLang="en-US" b="1" dirty="0"/>
              <a:t>가지 핵심 메시지</a:t>
            </a:r>
            <a:r>
              <a:rPr lang="ko-KR" altLang="en-US" dirty="0"/>
              <a:t>로 요약해 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b="1" dirty="0"/>
              <a:t>아키텍처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기존의 복잡하게 흩어져 있던 컴퓨터들을 중앙 집중형으로 단순화하고 묶어내야만</a:t>
            </a:r>
            <a:r>
              <a:rPr lang="en-US" altLang="ko-KR" dirty="0"/>
              <a:t>, </a:t>
            </a:r>
            <a:r>
              <a:rPr lang="ko-KR" altLang="en-US" dirty="0"/>
              <a:t>스마트폰처럼 원활한 무선 업데이트</a:t>
            </a:r>
            <a:r>
              <a:rPr lang="en-US" altLang="ko-KR" dirty="0"/>
              <a:t>(OTA)</a:t>
            </a:r>
            <a:r>
              <a:rPr lang="ko-KR" altLang="en-US" dirty="0"/>
              <a:t>와 통합 제어가 가능해집니다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b="1" dirty="0"/>
              <a:t>소프트웨어 플랫폼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결국 이 튼튼한 뼈대 위에서 자율주행</a:t>
            </a:r>
            <a:r>
              <a:rPr lang="en-US" altLang="ko-KR" dirty="0"/>
              <a:t>, AI, </a:t>
            </a:r>
            <a:r>
              <a:rPr lang="ko-KR" altLang="en-US" dirty="0"/>
              <a:t>클라우드 같은 첨단 기술들을 하나로 매끄럽게 엮어내어 지휘하는 </a:t>
            </a:r>
            <a:r>
              <a:rPr lang="en-US" altLang="ko-KR" dirty="0"/>
              <a:t>'</a:t>
            </a:r>
            <a:r>
              <a:rPr lang="ko-KR" altLang="en-US" dirty="0"/>
              <a:t>똑똑한 운영체제</a:t>
            </a:r>
            <a:r>
              <a:rPr lang="en-US" altLang="ko-KR" dirty="0"/>
              <a:t>(OS)'</a:t>
            </a:r>
            <a:r>
              <a:rPr lang="ko-KR" altLang="en-US" dirty="0"/>
              <a:t>를 누가 먼저 구축하느냐가 핵심 경쟁력입니다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b="1" dirty="0"/>
              <a:t>사업모델의 혁신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장표 오른쪽 그림을 보시면 자동차를 중심으로 수많은 서비스들이 돌고 있죠</a:t>
            </a:r>
            <a:r>
              <a:rPr lang="en-US" altLang="ko-KR" dirty="0"/>
              <a:t>. </a:t>
            </a:r>
            <a:r>
              <a:rPr lang="ko-KR" altLang="en-US" dirty="0"/>
              <a:t>오류가 나면 서비스 센터에 부를 필요 없이 원격으로 고쳐서 리콜 비용을 아끼고</a:t>
            </a:r>
            <a:r>
              <a:rPr lang="en-US" altLang="ko-KR" dirty="0"/>
              <a:t>, </a:t>
            </a:r>
            <a:r>
              <a:rPr lang="ko-KR" altLang="en-US" dirty="0" err="1"/>
              <a:t>넷플릭스처럼</a:t>
            </a:r>
            <a:r>
              <a:rPr lang="ko-KR" altLang="en-US" dirty="0"/>
              <a:t> 새로운 주행 기능이나 편의 기능을 </a:t>
            </a:r>
            <a:r>
              <a:rPr lang="en-US" altLang="ko-KR" dirty="0"/>
              <a:t>'</a:t>
            </a:r>
            <a:r>
              <a:rPr lang="ko-KR" altLang="en-US" dirty="0"/>
              <a:t>구독 서비스</a:t>
            </a:r>
            <a:r>
              <a:rPr lang="en-US" altLang="ko-KR" dirty="0"/>
              <a:t>'</a:t>
            </a:r>
            <a:r>
              <a:rPr lang="ko-KR" altLang="en-US" dirty="0"/>
              <a:t>로 판매하여 출고 이후에도 계속해서 수익을 창출하는 것</a:t>
            </a:r>
            <a:r>
              <a:rPr lang="en-US" altLang="ko-KR" dirty="0"/>
              <a:t>, </a:t>
            </a:r>
            <a:r>
              <a:rPr lang="ko-KR" altLang="en-US" dirty="0"/>
              <a:t>이것이 바로 </a:t>
            </a:r>
            <a:r>
              <a:rPr lang="en-US" altLang="ko-KR" dirty="0"/>
              <a:t>SDV</a:t>
            </a:r>
            <a:r>
              <a:rPr lang="ko-KR" altLang="en-US" dirty="0"/>
              <a:t>가 가져올 진정한 경제성입니다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장표 하단의 </a:t>
            </a:r>
            <a:r>
              <a:rPr lang="en-US" altLang="ko-KR" dirty="0"/>
              <a:t>'</a:t>
            </a:r>
            <a:r>
              <a:rPr lang="ko-KR" altLang="en-US" dirty="0"/>
              <a:t>한 줄 요약</a:t>
            </a:r>
            <a:r>
              <a:rPr lang="en-US" altLang="ko-KR" dirty="0"/>
              <a:t>'</a:t>
            </a:r>
            <a:r>
              <a:rPr lang="ko-KR" altLang="en-US" dirty="0"/>
              <a:t>을 읽으며 오늘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결국 </a:t>
            </a:r>
            <a:r>
              <a:rPr lang="en-US" altLang="ko-KR" dirty="0"/>
              <a:t>SDV </a:t>
            </a:r>
            <a:r>
              <a:rPr lang="ko-KR" altLang="en-US" dirty="0"/>
              <a:t>시대의 승패는</a:t>
            </a:r>
            <a:r>
              <a:rPr lang="en-US" altLang="ko-KR" dirty="0"/>
              <a:t>, </a:t>
            </a:r>
            <a:r>
              <a:rPr lang="ko-KR" altLang="en-US" dirty="0"/>
              <a:t>자동차의 기본인 </a:t>
            </a:r>
            <a:r>
              <a:rPr lang="en-US" altLang="ko-KR" b="1" dirty="0"/>
              <a:t>'</a:t>
            </a:r>
            <a:r>
              <a:rPr lang="ko-KR" altLang="en-US" b="1" dirty="0"/>
              <a:t>잘 만든 하드웨어</a:t>
            </a:r>
            <a:r>
              <a:rPr lang="en-US" altLang="ko-KR" b="1" dirty="0"/>
              <a:t>'</a:t>
            </a:r>
            <a:r>
              <a:rPr lang="ko-KR" altLang="en-US" dirty="0"/>
              <a:t> 위에 **</a:t>
            </a:r>
            <a:r>
              <a:rPr lang="en-US" altLang="ko-KR" dirty="0"/>
              <a:t>'</a:t>
            </a:r>
            <a:r>
              <a:rPr lang="ko-KR" altLang="en-US" dirty="0"/>
              <a:t>계속해서 진화하고 개선되는 소프트웨어</a:t>
            </a:r>
            <a:r>
              <a:rPr lang="en-US" altLang="ko-KR" dirty="0"/>
              <a:t>'**</a:t>
            </a:r>
            <a:r>
              <a:rPr lang="ko-KR" altLang="en-US" dirty="0"/>
              <a:t>를 얼마나 완벽하게 얹을 수 있느냐에 달려 있습니다</a:t>
            </a:r>
            <a:r>
              <a:rPr lang="en-US" altLang="ko-KR" dirty="0"/>
              <a:t>. </a:t>
            </a:r>
            <a:r>
              <a:rPr lang="ko-KR" altLang="en-US" dirty="0"/>
              <a:t>단순한 기계의 </a:t>
            </a:r>
            <a:r>
              <a:rPr lang="en-US" altLang="ko-KR" dirty="0"/>
              <a:t>'</a:t>
            </a:r>
            <a:r>
              <a:rPr lang="ko-KR" altLang="en-US" dirty="0"/>
              <a:t>전자화</a:t>
            </a:r>
            <a:r>
              <a:rPr lang="en-US" altLang="ko-KR" dirty="0"/>
              <a:t>'</a:t>
            </a:r>
            <a:r>
              <a:rPr lang="ko-KR" altLang="en-US" dirty="0"/>
              <a:t>를 넘어선 거대한 </a:t>
            </a:r>
            <a:r>
              <a:rPr lang="en-US" altLang="ko-KR" dirty="0"/>
              <a:t>'</a:t>
            </a:r>
            <a:r>
              <a:rPr lang="ko-KR" altLang="en-US" dirty="0"/>
              <a:t>플랫폼</a:t>
            </a:r>
            <a:r>
              <a:rPr lang="en-US" altLang="ko-KR" dirty="0"/>
              <a:t>'</a:t>
            </a:r>
            <a:r>
              <a:rPr lang="ko-KR" altLang="en-US" dirty="0"/>
              <a:t>의 변화</a:t>
            </a:r>
            <a:r>
              <a:rPr lang="en-US" altLang="ko-KR" dirty="0"/>
              <a:t>, </a:t>
            </a:r>
            <a:r>
              <a:rPr lang="ko-KR" altLang="en-US" dirty="0"/>
              <a:t>그 중심에 </a:t>
            </a:r>
            <a:r>
              <a:rPr lang="en-US" altLang="ko-KR" dirty="0"/>
              <a:t>SDV</a:t>
            </a:r>
            <a:r>
              <a:rPr lang="ko-KR" altLang="en-US" dirty="0"/>
              <a:t>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이상으로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경청해 주셔서 감사합니다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12280" y="502920"/>
            <a:ext cx="4709160" cy="5806440"/>
          </a:xfrm>
          <a:prstGeom prst="rect">
            <a:avLst/>
          </a:prstGeom>
          <a:solidFill>
            <a:srgbClr val="EAF5FB"/>
          </a:solidFill>
          <a:ln w="12700">
            <a:solidFill>
              <a:srgbClr val="EAF5FB"/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mnt/data/sdv_assets/p3_carclou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089485"/>
            <a:ext cx="4407408" cy="46241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0515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SDV(Software Defined Vehicle)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49808" y="2606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D6E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</a:t>
            </a:r>
            <a:r>
              <a:rPr lang="en-US" sz="1450" dirty="0">
                <a:solidFill>
                  <a:srgbClr val="D6E6F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· 등장배경 · 구조 · 핵심기술 · 아키텍처 · 과제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49808" y="3840480"/>
            <a:ext cx="4389120" cy="0"/>
          </a:xfrm>
          <a:prstGeom prst="line">
            <a:avLst/>
          </a:prstGeom>
          <a:noFill/>
          <a:ln w="12700">
            <a:solidFill>
              <a:srgbClr val="4B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49808" y="4069080"/>
            <a:ext cx="1078992" cy="347472"/>
          </a:xfrm>
          <a:prstGeom prst="roundRect">
            <a:avLst/>
          </a:prstGeom>
          <a:solidFill>
            <a:srgbClr val="1A4C78"/>
          </a:solidFill>
          <a:ln w="12700">
            <a:solidFill>
              <a:srgbClr val="2A5A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49808" y="41422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Software-first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11680" y="4069080"/>
            <a:ext cx="1078992" cy="347472"/>
          </a:xfrm>
          <a:prstGeom prst="roundRect">
            <a:avLst/>
          </a:prstGeom>
          <a:solidFill>
            <a:srgbClr val="173B5B"/>
          </a:solidFill>
          <a:ln w="12700">
            <a:solidFill>
              <a:srgbClr val="2A5A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011680" y="41422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OTA lifecycle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73552" y="4069080"/>
            <a:ext cx="1078992" cy="347472"/>
          </a:xfrm>
          <a:prstGeom prst="roundRect">
            <a:avLst/>
          </a:prstGeom>
          <a:solidFill>
            <a:srgbClr val="173B5B"/>
          </a:solidFill>
          <a:ln w="12700">
            <a:solidFill>
              <a:srgbClr val="2A5A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273552" y="41422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Zonal/HPC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35424" y="4069080"/>
            <a:ext cx="1078992" cy="347472"/>
          </a:xfrm>
          <a:prstGeom prst="roundRect">
            <a:avLst/>
          </a:prstGeom>
          <a:solidFill>
            <a:srgbClr val="173B5B"/>
          </a:solidFill>
          <a:ln w="12700">
            <a:solidFill>
              <a:srgbClr val="2A5A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535424" y="4142232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&amp; Cloud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9807" y="5989320"/>
            <a:ext cx="661301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B5CA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refrence</a:t>
            </a:r>
            <a:r>
              <a:rPr lang="en-US" sz="1050" dirty="0">
                <a:solidFill>
                  <a:srgbClr val="B5CA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ETRI 「소프트웨어 중심 자동차(SDV) 현황 및 </a:t>
            </a:r>
            <a:r>
              <a:rPr lang="en-US" sz="1050" dirty="0" err="1">
                <a:solidFill>
                  <a:srgbClr val="B5CA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전망</a:t>
            </a:r>
            <a:r>
              <a:rPr lang="en-US" sz="1050" dirty="0">
                <a:solidFill>
                  <a:srgbClr val="B5CA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」,</a:t>
            </a:r>
            <a:r>
              <a:rPr lang="en-US" sz="1050" dirty="0"/>
              <a:t> </a:t>
            </a:r>
            <a:r>
              <a:rPr lang="en-US" sz="1050" dirty="0" err="1">
                <a:solidFill>
                  <a:srgbClr val="B5CA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정구민</a:t>
            </a:r>
            <a:r>
              <a:rPr lang="en-US" sz="1050" dirty="0">
                <a:solidFill>
                  <a:srgbClr val="B5CA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B5CA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교수</a:t>
            </a:r>
            <a:r>
              <a:rPr lang="ko-KR" altLang="en-US" sz="1050" dirty="0">
                <a:solidFill>
                  <a:srgbClr val="B5CA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님</a:t>
            </a:r>
            <a:r>
              <a:rPr lang="en-US" sz="1050" dirty="0">
                <a:solidFill>
                  <a:srgbClr val="B5CAD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「SDV의 진화와 생태계 변화」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B8E7"/>
          </a:solidFill>
          <a:ln w="12700">
            <a:solidFill>
              <a:srgbClr val="17B8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8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144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SDV란 무엇인가?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2144" y="731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정의: 차량 기능을 소프트웨어로 지속적으로 정의·개선·수익화하는 자동차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2984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“출고 후에도 기능이 계속 진화하는 차량”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3" y="1828800"/>
            <a:ext cx="577900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 생애주기에서 기능의 변경·추가·삭제가 </a:t>
            </a:r>
            <a:r>
              <a:rPr lang="en-US" sz="1850" dirty="0" err="1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OTA로</a:t>
            </a:r>
            <a:r>
              <a:rPr 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가</a:t>
            </a:r>
            <a:r>
              <a:rPr lang="ko-KR" alt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능</a:t>
            </a:r>
            <a:endParaRPr lang="en-US" altLang="ko-KR" sz="1850" dirty="0">
              <a:solidFill>
                <a:srgbClr val="203040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하드웨어와 소프트웨어의 개발 주기를 </a:t>
            </a:r>
            <a:r>
              <a:rPr lang="en-US" sz="1850" dirty="0" err="1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분리해</a:t>
            </a:r>
            <a:r>
              <a:rPr 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br>
              <a:rPr 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</a:br>
            <a:r>
              <a:rPr 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 빠른 </a:t>
            </a:r>
            <a:r>
              <a:rPr lang="en-US" sz="1850" dirty="0" err="1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</a:t>
            </a:r>
            <a:r>
              <a:rPr 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850" dirty="0" err="1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가능</a:t>
            </a:r>
            <a:endParaRPr lang="en-US" sz="1850" dirty="0">
              <a:solidFill>
                <a:srgbClr val="203040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주행 데이터 수집·학습을 통해 AI 기반 개인화 서비스와 구독 </a:t>
            </a:r>
            <a:r>
              <a:rPr lang="en-US" sz="1850" dirty="0" err="1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</a:t>
            </a:r>
            <a:r>
              <a:rPr 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850" dirty="0" err="1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</a:t>
            </a:r>
            <a:endParaRPr lang="en-US" sz="1850" dirty="0">
              <a:solidFill>
                <a:srgbClr val="203040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228600" indent="-228600">
              <a:buSzPct val="100000"/>
              <a:buChar char="•"/>
            </a:pP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ECU/HPC, 서비스 플랫폼, 서드파티 앱 생태계까지 포함하는 구조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68680" y="5074920"/>
            <a:ext cx="4663440" cy="932688"/>
          </a:xfrm>
          <a:prstGeom prst="roundRect">
            <a:avLst/>
          </a:prstGeom>
          <a:solidFill>
            <a:srgbClr val="EAF5FB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51560" y="53492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</a:t>
            </a:r>
            <a:r>
              <a:rPr lang="en-US" sz="1500" b="1" dirty="0" err="1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차량을</a:t>
            </a: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한 번 만드는 </a:t>
            </a:r>
            <a:r>
              <a:rPr lang="en-US" sz="1500" b="1" dirty="0" err="1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</a:t>
            </a: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”</a:t>
            </a:r>
          </a:p>
          <a:p>
            <a:pPr marL="0" indent="0" algn="ctr">
              <a:buNone/>
            </a:pPr>
            <a:r>
              <a:rPr lang="ko-KR" altLang="en-US" sz="1500" dirty="0"/>
              <a:t>↓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“지속 업데이트되는 소프트웨어 </a:t>
            </a:r>
            <a:r>
              <a:rPr lang="en-US" sz="1500" b="1" dirty="0" err="1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플랫폼</a:t>
            </a:r>
            <a:r>
              <a:rPr lang="en-US" sz="15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”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8F5BEE1-93EF-E542-CF4D-3C4827C6480A}"/>
              </a:ext>
            </a:extLst>
          </p:cNvPr>
          <p:cNvGrpSpPr/>
          <p:nvPr/>
        </p:nvGrpSpPr>
        <p:grpSpPr>
          <a:xfrm>
            <a:off x="6450775" y="1325880"/>
            <a:ext cx="5577840" cy="5074920"/>
            <a:chOff x="5897880" y="1325880"/>
            <a:chExt cx="5577840" cy="5074920"/>
          </a:xfrm>
        </p:grpSpPr>
        <p:sp>
          <p:nvSpPr>
            <p:cNvPr id="13" name="Shape 11"/>
            <p:cNvSpPr/>
            <p:nvPr/>
          </p:nvSpPr>
          <p:spPr>
            <a:xfrm>
              <a:off x="5897880" y="1325880"/>
              <a:ext cx="5577840" cy="5074920"/>
            </a:xfrm>
            <a:prstGeom prst="roundRect">
              <a:avLst/>
            </a:prstGeom>
            <a:solidFill>
              <a:srgbClr val="F6FBFF"/>
            </a:solidFill>
            <a:ln w="12700">
              <a:solidFill>
                <a:srgbClr val="D8E6EE"/>
              </a:solidFill>
              <a:prstDash val="solid"/>
            </a:ln>
            <a:effectLst>
              <a:outerShdw blurRad="15240" dist="10160" dir="2700000" algn="bl" rotWithShape="0">
                <a:srgbClr val="93BFD6">
                  <a:alpha val="16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4" name="Image 0" descr="/mnt/data/sdv_assets/SDV의 진화와 생태계 변화_정구민교수_p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3328" y="2368296"/>
              <a:ext cx="5266944" cy="29626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B8E7"/>
          </a:solidFill>
          <a:ln w="12700">
            <a:solidFill>
              <a:srgbClr val="17B8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8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144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SDV 등장 배경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2144" y="731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경쟁의 축이 엔진·기계 성능에서 소프트웨어·데이터·사용자 경험으로 이동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SDV를</a:t>
            </a:r>
            <a:r>
              <a:rPr lang="en-US" sz="2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2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끌</a:t>
            </a:r>
            <a:r>
              <a:rPr lang="en-US" sz="2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 올린 네 가지 흐름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68680" y="1828800"/>
            <a:ext cx="1051560" cy="512064"/>
          </a:xfrm>
          <a:prstGeom prst="roundRect">
            <a:avLst/>
          </a:prstGeom>
          <a:solidFill>
            <a:srgbClr val="E7F5EF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9842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전동화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148840" y="1847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배터리·모터 중심 EV 전환으로 차량 제어가 전자·소프트웨어 중심으로 재편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2816352"/>
            <a:ext cx="1051560" cy="512064"/>
          </a:xfrm>
          <a:prstGeom prst="roundRect">
            <a:avLst/>
          </a:prstGeom>
          <a:solidFill>
            <a:srgbClr val="EDF4FE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68680" y="29718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자율주행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14884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ADAS/AD 고도화로 센서 융합, 고성능 프로세서, 통합 제어 요구 급증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3803904"/>
            <a:ext cx="1051560" cy="512064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395935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 err="1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공유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148840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5G·V2X·OTA가 결합되며 자동차가 서비스 단말로 진화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4791456"/>
            <a:ext cx="1051560" cy="512064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68680" y="494690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서비스화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148840" y="48097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출고 후 기능 업데이트·리콜 대응·구독형 기능 판매가 새로운 수익원으로 부상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1508760"/>
            <a:ext cx="4754880" cy="448056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629400" y="2148840"/>
            <a:ext cx="969264" cy="512064"/>
          </a:xfrm>
          <a:prstGeom prst="roundRect">
            <a:avLst/>
          </a:prstGeom>
          <a:solidFill>
            <a:srgbClr val="DFF0FB"/>
          </a:solidFill>
          <a:ln w="12700">
            <a:solidFill>
              <a:srgbClr val="C5DC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629400" y="2304288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0" y="2148840"/>
            <a:ext cx="969264" cy="512064"/>
          </a:xfrm>
          <a:prstGeom prst="roundRect">
            <a:avLst/>
          </a:prstGeom>
          <a:solidFill>
            <a:srgbClr val="DFF0FB"/>
          </a:solidFill>
          <a:ln w="12700">
            <a:solidFill>
              <a:srgbClr val="C5DC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772400" y="2304288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 전환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15400" y="2148840"/>
            <a:ext cx="969264" cy="512064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C5DC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915400" y="2304288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OTA/데이터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58400" y="2148840"/>
            <a:ext cx="969264" cy="512064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C5DC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058400" y="2304288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서비스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26680" y="3063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자동차 경쟁 축 전환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58578" y="3703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잘 달리는 차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183880" y="3730752"/>
            <a:ext cx="640080" cy="256032"/>
          </a:xfrm>
          <a:prstGeom prst="chevron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006840" y="36850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1E88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업데이트되는</a:t>
            </a:r>
            <a:r>
              <a:rPr lang="en-US" sz="1800" b="1" dirty="0">
                <a:solidFill>
                  <a:srgbClr val="1E88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800" b="1" dirty="0" err="1">
                <a:solidFill>
                  <a:srgbClr val="1E88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</a:t>
            </a:r>
            <a:r>
              <a:rPr lang="en-US" sz="1800" b="1" dirty="0">
                <a:solidFill>
                  <a:srgbClr val="1E88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차량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03720" y="46817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HW 판매 이후에도 소프트웨어로 기능·품질·매출을 계속 확장할 수 있다는 점이다.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B8E7"/>
          </a:solidFill>
          <a:ln w="12700">
            <a:solidFill>
              <a:srgbClr val="17B8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8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144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SDV 구조: </a:t>
            </a:r>
            <a:r>
              <a:rPr lang="en-US" sz="2400" b="1" dirty="0" err="1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</a:t>
            </a: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400" b="1" dirty="0" err="1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차량</a:t>
            </a:r>
            <a:r>
              <a:rPr lang="ko-KR" alt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구조와의 차이점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2144" y="731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분산형 ECU 중심 구조에서 도메인·존(Zone)·HPC 중심 구조로 이동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280160"/>
            <a:ext cx="10561320" cy="3401568"/>
          </a:xfrm>
          <a:prstGeom prst="roundRect">
            <a:avLst/>
          </a:prstGeom>
          <a:solidFill>
            <a:srgbClr val="F9FCFE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mnt/data/sdv_assets/SDV의 진화와 생태계 변화_정구민교수_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520" y="1463040"/>
            <a:ext cx="5364480" cy="3017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8680" y="4983480"/>
            <a:ext cx="3154680" cy="107899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78408" y="514807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분산형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51560" y="5422392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기능마다 ECU 추가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배선 증가·복잡도 상승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OTA·통합제어에 비효율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89120" y="4983480"/>
            <a:ext cx="3154680" cy="1078992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498848" y="514807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 집중형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572000" y="5422392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ADAS/인포테인먼트/차체 등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기능별 묶음 제어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 단계의 통합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09560" y="4983480"/>
            <a:ext cx="3154680" cy="1078992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019288" y="514807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06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Zonal + HPC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092440" y="5422392"/>
            <a:ext cx="2761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구역별 Zone Controller와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중앙 고성능 컴퓨터 결합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이더넷 백본·OTA·확장성 강화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B8E7"/>
          </a:solidFill>
          <a:ln w="12700">
            <a:solidFill>
              <a:srgbClr val="17B8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8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144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SDV 핵심 기술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2144" y="731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E/E Architecture · Ethernet · OTA · AI/자율주행이 한 플랫폼으로 수렴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4663440" cy="786384"/>
          </a:xfrm>
          <a:prstGeom prst="roundRect">
            <a:avLst/>
          </a:prstGeom>
          <a:solidFill>
            <a:srgbClr val="F6FA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5270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E/E Architecture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514600" y="15087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ECU 난립 구조를 줄이고 Zone Controller + HPC로 통합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822960" y="2423160"/>
            <a:ext cx="4663440" cy="786384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87552" y="25328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Automotive Ethernet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514600" y="25146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존 간 연결과 대역폭 확보를 위한 백본. BMW는 10BASE-T1S 기반 edge bus를 조기 채택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822960" y="3429000"/>
            <a:ext cx="4663440" cy="786384"/>
          </a:xfrm>
          <a:prstGeom prst="roundRect">
            <a:avLst/>
          </a:prstGeom>
          <a:solidFill>
            <a:srgbClr val="EDF7FF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87552" y="35387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OTA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514600" y="35204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FOTA에서 SOTA로 진화하며 앱 단위 업데이트·런타임 반영 지원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822960" y="4434840"/>
            <a:ext cx="4663440" cy="786384"/>
          </a:xfrm>
          <a:prstGeom prst="roundRect">
            <a:avLst/>
          </a:prstGeom>
          <a:solidFill>
            <a:srgbClr val="F6FA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87552" y="4544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/ 자율주행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2514600" y="45262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고성능 센서·프로세서·AI 플랫폼으로 ADAS/AD/콕핏 기능을 통합</a:t>
            </a:r>
            <a:endParaRPr lang="en-US" sz="1360" dirty="0"/>
          </a:p>
        </p:txBody>
      </p:sp>
      <p:sp>
        <p:nvSpPr>
          <p:cNvPr id="21" name="Shape 19"/>
          <p:cNvSpPr/>
          <p:nvPr/>
        </p:nvSpPr>
        <p:spPr>
          <a:xfrm>
            <a:off x="5760720" y="1325880"/>
            <a:ext cx="5486400" cy="205740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0" descr="/mnt/data/sdv_assets/SDV의 진화와 생태계 변화_정구민교수_p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172" y="1490472"/>
            <a:ext cx="3088640" cy="173736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760720" y="3611880"/>
            <a:ext cx="5486400" cy="205740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1" descr="/mnt/data/sdv_assets/SDV의 진화와 생태계 변화_정구민교수_p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960" y="3749040"/>
            <a:ext cx="316992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B8E7"/>
          </a:solidFill>
          <a:ln w="12700">
            <a:solidFill>
              <a:srgbClr val="17B8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8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144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SDV Software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2144" y="731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제어·자율주행·인포테인먼트·클라우드를 API와 가상화로 연결하는 계층형 구조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88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전형적 계층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68680" y="1783080"/>
            <a:ext cx="4663440" cy="585216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24128" y="190195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084832" y="188366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 / Self-Driving / Infotainment / Cloud Service App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868680" y="2569464"/>
            <a:ext cx="4663440" cy="585216"/>
          </a:xfrm>
          <a:prstGeom prst="roundRect">
            <a:avLst/>
          </a:prstGeom>
          <a:solidFill>
            <a:srgbClr val="EAF5FB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24128" y="268833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084832" y="267004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Vehicle API, Cloud API, domain API로 기능 추상화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68680" y="3355848"/>
            <a:ext cx="4663440" cy="585216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24128" y="347472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Middleware &amp; Runtime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084832" y="34564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Classic AUTOSAR + Adaptive AUTOSAR + Infotainment Platform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868680" y="4142232"/>
            <a:ext cx="4663440" cy="585216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24128" y="42611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Compute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084832" y="424281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MCU, AP, HPC, 가상화 환경, AI/LLM 가속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868680" y="4928616"/>
            <a:ext cx="4663440" cy="585216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24128" y="50474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084832" y="50292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디지털 트윈, 배포, 모니터링, 데이터 처리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5715000" y="1280160"/>
            <a:ext cx="5577840" cy="525780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8E6EE"/>
            </a:solidFill>
            <a:prstDash val="solid"/>
          </a:ln>
          <a:effectLst>
            <a:outerShdw blurRad="13970" dist="10160" dir="2700000" algn="bl" rotWithShape="0">
              <a:srgbClr val="93BFD6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/mnt/data/sdv_assets/SDV의 진화와 생태계 변화_정구민교수_p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666780"/>
            <a:ext cx="5257800" cy="2957513"/>
          </a:xfrm>
          <a:prstGeom prst="rect">
            <a:avLst/>
          </a:prstGeom>
        </p:spPr>
      </p:pic>
      <p:pic>
        <p:nvPicPr>
          <p:cNvPr id="28" name="Image 1" descr="/mnt/data/sdv_assets/SDV의 진화와 생태계 변화_정구민교수_p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032" y="4736592"/>
            <a:ext cx="2308352" cy="1298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B8E7"/>
          </a:solidFill>
          <a:ln w="12700">
            <a:solidFill>
              <a:srgbClr val="17B8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8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144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방법론 변화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2144" y="731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V-모델 중심의 ECU 단위 개발에서 Agile·DevOps·CI/CD·Cloud 기반 운영으로 이동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1248" y="1325880"/>
            <a:ext cx="4480560" cy="5074920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1627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전통적 개발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19659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ECU별·차종별 개별 개발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출시 시점 중심 릴리스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하드웨어 변경과 소프트웨어 변경이 강하게 결합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2697480" y="3456432"/>
            <a:ext cx="640080" cy="310896"/>
          </a:xfrm>
          <a:prstGeom prst="chevron">
            <a:avLst/>
          </a:prstGeom>
          <a:solidFill>
            <a:srgbClr val="17B8E7"/>
          </a:solidFill>
          <a:ln w="12700">
            <a:solidFill>
              <a:srgbClr val="17B8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78992" y="3886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8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SDV 개발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4224528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플랫폼 중심 개발(AA-AA-CA 등)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Agile + DevOps + CI/CD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클라우드 검증·가상 시뮬레이션·OTA 배포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출고 후 운영·모니터링까지 개발 범위 확장</a:t>
            </a:r>
            <a:endParaRPr lang="en-US" sz="1630" dirty="0"/>
          </a:p>
        </p:txBody>
      </p:sp>
      <p:sp>
        <p:nvSpPr>
          <p:cNvPr id="15" name="Shape 13"/>
          <p:cNvSpPr/>
          <p:nvPr/>
        </p:nvSpPr>
        <p:spPr>
          <a:xfrm>
            <a:off x="5577840" y="1325880"/>
            <a:ext cx="5623560" cy="5074920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/mnt/data/sdv_assets/SDV의 진화와 생태계 변화_정구민교수_p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2344293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B8E7"/>
          </a:solidFill>
          <a:ln w="12700">
            <a:solidFill>
              <a:srgbClr val="17B8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8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144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과제 (Challenges)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2144" y="731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 완성도와 조직 역량, 검증·규제 체계, 생태계 </a:t>
            </a:r>
            <a:r>
              <a:rPr lang="en-US" sz="1050" dirty="0" err="1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표준화가</a:t>
            </a: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동시</a:t>
            </a: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필요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325880"/>
            <a:ext cx="4892040" cy="731520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4356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실시간성·안전성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2633472" y="14173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Adaptive AUTOSAR는 결정성(Determinism) 이슈가 있어 안전 기능과의 공존 설계가 중요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22960" y="2267712"/>
            <a:ext cx="4892040" cy="731520"/>
          </a:xfrm>
          <a:prstGeom prst="roundRect">
            <a:avLst/>
          </a:prstGeom>
          <a:solidFill>
            <a:srgbClr val="EDF6FB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87552" y="23774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OTA 검증·보안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2633472" y="235915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SOTA 확대와 함께 ISO 24089, 무결성 검증, 안전한 롤백·리커버리 체계 필요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822960" y="3209544"/>
            <a:ext cx="4892040" cy="731520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87552" y="33192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표준/API 미성숙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2633472" y="330098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API·Cloud API·Vehicle API가 OEM별로 분산되어 상호운용성이 아직 과제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22960" y="4151376"/>
            <a:ext cx="4892040" cy="731520"/>
          </a:xfrm>
          <a:prstGeom prst="roundRect">
            <a:avLst/>
          </a:prstGeom>
          <a:solidFill>
            <a:srgbClr val="EDF6FB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87552" y="42611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복잡성·비용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2633472" y="424281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서로 다른 개발주기의 소프트웨어 통합으로 개발·운영 비용이 증가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822960" y="5093208"/>
            <a:ext cx="4892040" cy="731520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87552" y="520293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조직·인재 전환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2633472" y="518464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기계 중심 조직에서 소프트웨어 조직, 데이터 인력, 플랫폼 내재화 역량 확보 필요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5897880" y="1280160"/>
            <a:ext cx="5394960" cy="5230368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0" descr="/mnt/data/sdv_assets/SDV의 진화와 생태계 변화_정구민교수_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2442305"/>
            <a:ext cx="5166360" cy="29060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B8E7"/>
          </a:solidFill>
          <a:ln w="12700">
            <a:solidFill>
              <a:srgbClr val="17B8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21792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8E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52144" y="31089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52144" y="731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SDV는 자동차의 “전자화”가 아니라 “플랫폼화”이며, 승부처는 </a:t>
            </a:r>
            <a:r>
              <a:rPr lang="en-US" sz="1050" dirty="0" err="1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아키텍처·OS·운영</a:t>
            </a:r>
            <a:r>
              <a:rPr lang="en-US" sz="105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050" dirty="0" err="1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10881360" cy="0"/>
          </a:xfrm>
          <a:prstGeom prst="line">
            <a:avLst/>
          </a:prstGeom>
          <a:noFill/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353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메시지 3가지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68680" y="1783080"/>
            <a:ext cx="4754880" cy="850392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51560" y="18836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아키텍처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1051560" y="21214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분산 ECU에서 Zonal/HPC 구조로 갈수록 OTA, 통합제어, 서비스 확장이 쉬워진다.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2862072"/>
            <a:ext cx="4754880" cy="850392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51560" y="296265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소프트웨어 플랫폼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1051560" y="32004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Classic + Adaptive AUTOSAR, 인포테인먼트, AI, Cloud API를 엮는 OS/플랫폼이 경쟁력의 핵심이다.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3941064"/>
            <a:ext cx="4754880" cy="850392"/>
          </a:xfrm>
          <a:prstGeom prst="roundRect">
            <a:avLst/>
          </a:prstGeom>
          <a:solidFill>
            <a:srgbClr val="EAF7EE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51560" y="404164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06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사업모델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1051560" y="427939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3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리콜 대응, 기능 업데이트, 구독 서비스, 데이터 기반 UX 개선이 SDV의 경제성을 만든다.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2303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97A8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요약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504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02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“잘 만든 하드웨어” 위에 “계속 개선되는 소프트웨어”를 얹을 수 있어야 SDV 경쟁력이 완성된다.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897880" y="1261872"/>
            <a:ext cx="5394960" cy="5230368"/>
          </a:xfrm>
          <a:prstGeom prst="roundRect">
            <a:avLst/>
          </a:prstGeom>
          <a:solidFill>
            <a:srgbClr val="F8FBFE"/>
          </a:solidFill>
          <a:ln w="12700">
            <a:solidFill>
              <a:srgbClr val="D8E6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0" descr="/mnt/data/sdv_assets/SDV의 진화와 생태계 변화_정구민교수_p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427161"/>
            <a:ext cx="5138928" cy="28906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2724</Words>
  <Application>Microsoft Office PowerPoint</Application>
  <PresentationFormat>와이드스크린</PresentationFormat>
  <Paragraphs>196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SDV(Software Defined Vehicle) 핵심 이해</dc:title>
  <dc:subject>SDV overview deck</dc:subject>
  <dc:creator>OpenAI</dc:creator>
  <cp:lastModifiedBy>이희준(2025811065)</cp:lastModifiedBy>
  <cp:revision>39</cp:revision>
  <dcterms:created xsi:type="dcterms:W3CDTF">2026-04-21T04:20:26Z</dcterms:created>
  <dcterms:modified xsi:type="dcterms:W3CDTF">2026-04-21T08:33:43Z</dcterms:modified>
</cp:coreProperties>
</file>