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sldIdLst>
    <p:sldId id="279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0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및 목차" id="{FDA37AE7-6F61-4738-B58E-53D16F24D74C}">
          <p14:sldIdLst>
            <p14:sldId id="279"/>
          </p14:sldIdLst>
        </p14:section>
        <p14:section name="본문" id="{975B14FF-5963-4FA2-99F3-05B9EABDC627}">
          <p14:sldIdLst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DCF8"/>
    <a:srgbClr val="5894CF"/>
    <a:srgbClr val="EFF3F8"/>
    <a:srgbClr val="CFD8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1" autoAdjust="0"/>
    <p:restoredTop sz="77623" autoAdjust="0"/>
  </p:normalViewPr>
  <p:slideViewPr>
    <p:cSldViewPr snapToGrid="0">
      <p:cViewPr varScale="1">
        <p:scale>
          <a:sx n="47" d="100"/>
          <a:sy n="47" d="100"/>
        </p:scale>
        <p:origin x="21" y="49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7EF4DEA1-4F95-401F-9C1D-7F013E6FE5F6}" type="datetime1">
              <a:rPr lang="ko-KR" altLang="en-US"/>
              <a:pPr lvl="0">
                <a:defRPr/>
              </a:pPr>
              <a:t>2026-03-17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16A3BD86-B9C4-48BB-B1BA-5BDB10AF190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00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표지입니다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768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3659-4B7F-B9AF-B9C0-B175EA16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D64F0A-2945-3649-D18F-647DCFF46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A1004C-564C-60DA-9509-855BB3FB8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6B9C0-7197-BE3E-D86B-5D990048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914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EBCCB-9410-5CB0-FEEE-8ACAC65C2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9D28BF-E634-3D2B-715F-AD1F76EE6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0C293C-4521-BB70-5CE6-8B40EE3F8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297327-9913-19E1-C70D-94DE4AFDD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669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6AC2-94A0-3EB2-127E-ECD085FFC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7B214F-87C5-273D-7B2F-25C013EDB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5BAC3A-4311-D463-6BAF-9E7D2A9A2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E07DD3-48A3-158D-467A-37CDB939E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602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3FD64-2085-EB0E-F88E-FACC920DF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D258D3-C78C-57AF-E565-389871DC7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958BB7-D7D0-557E-7249-CEDEF9A99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FE0FD2-5474-6D2A-BF12-3AEC8DD76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420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9D8BE-C3AF-4B97-8297-3886C16B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C79C4E-473F-F463-04B5-E4819CB4A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68923A-1731-4E72-E53F-65811EF4D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421E7-7881-7466-B6ED-0E021EFCE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992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873CD-21D0-724B-C60D-73AAD09A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B799F8-0C10-8D4A-C984-C9D599569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189692-4BBE-5792-C6D1-9EF1E3C8F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9A6F0-3C47-7EAC-292C-FBDEB5230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84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C09CC-5FCA-6564-F7C0-84B3152B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DFBAC1-0544-41C8-2808-6E3E37261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285749-9CE1-E573-527B-963AB1642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762AEC-904C-F174-CDF9-D158085DF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909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A0015-7FF2-A807-1754-39A837C6E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C9B58-DE50-E912-F3ED-1C14B807B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36B527-D683-EAD0-B1A4-FB4D7983D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4B1FF-29C9-2AB7-9B4A-B04B02A68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156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3C001-C9BC-18FB-451E-AD75FB95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388AD5-FA16-D7AE-0D3C-1F0BDCDA1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0B76FB-AA72-F36B-33B5-34192CF77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C026C5-5491-D955-2E16-B52B9D449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868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D485D-E9FE-857B-EC58-5E9007CB6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36A9DB-FA96-AAC9-D608-30D1596DE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DA60FC-0C69-A098-0239-8ADC5A77B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163B7-3C27-6E75-1A70-C9B8E462D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3BD86-B9C4-48BB-B1BA-5BDB10AF190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431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2956B-0C3C-852C-B055-5CB40CF2F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754C56-0957-D194-C5B0-07C7E1035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F57B55-CDF9-992F-5783-0FF1F0B6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94891-C176-45C6-952F-6646066BB07A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4A30A4-C742-50C8-6379-D28E538A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258673-A6DC-13D7-43FE-D07CFEF7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6947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1F0C6-987E-1AC2-64B4-1AF6D371E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C68E92-D2C2-F52D-B389-C1FEB110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59ABB-B485-D618-9EE9-2BC230D3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77154-35AB-4BEF-ABD2-72B454421146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1F0190-262E-2FD8-D981-3A8F1F1D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70314E-3927-BEDC-4B85-CA164688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62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D1540-916B-07D3-C5AD-FB2255A23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179CCB-C75D-6A71-7763-0373C4535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9F948A-8D46-AC36-3798-C7867AFA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7E407-6B96-4B20-A56B-622FAA2C9F1E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4B05C6-0C2E-04C9-0174-EDECFBA4B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C6BC61-3008-89A8-FBC5-FDAF45F44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213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AEDAA-618F-A914-0695-D2462BAB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EB0354-ADD3-8D1D-4EC6-61EE1B4AC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4AFE95-07F0-600C-1583-7E0A3E47F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6415E8-CA46-1B9B-76BE-DB60D312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3554E-5C37-432E-B5B0-5F06A10FB84D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15974F-127F-D9AB-D668-5FE43374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D50977-824B-4983-B3BA-A6FC671E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89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96F08-003F-BF29-7BB0-A04944459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E57A8E-F1EA-34A6-E3CB-5FFEFDA1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4F483E-9C2C-2094-3BB3-8125BC2F1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A06055-2830-8B4B-3413-5989B4F60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4D53929-2676-8200-7230-282F3D0C9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4F5E7B-19FC-8175-C727-DF96B1FD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B1258-8CD3-4C4C-96C6-E0292624AFA2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214392-34B2-A6F2-3837-ADAD09F7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62D480-1EE2-B60F-C95A-8746614E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08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1EEBC5-F9E3-5640-21CE-59A60C0D3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27D95B-6352-EA92-6B53-5D072EEEA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2ECE2-7E19-4C0D-9ADC-E9A8A6CBE1BB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EE7AC26-5A62-C72A-C7D6-B059660A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4367A1-F668-0598-E448-87387E75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F2DF15-AB9A-D820-AAEA-CBE25BE6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15E5-75A1-418B-B4F5-C9812F71A2DB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01B0F7-0F98-58AD-0342-CFE93184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DC5E35-2816-4483-AB2E-8E164C5F8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825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43CC7-64F7-D429-016C-99460E6C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2C9F9-4019-0DCA-3FFB-A3CA8BCDC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EE260F-5013-2151-73C6-4F27BE997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BFEC57-9F8A-F534-E927-6760AFDD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838-9398-4F49-8728-9E6AB80DF08A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40A817-99EC-1D59-75F4-809A7507C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2DF34A-476F-BF96-7311-6B4D8261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66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C8B1A-417D-ADA8-1BEE-9BD38DEB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BF7120-5B97-82CC-155D-8213482E7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ACCB2D-97AB-5C53-6607-6731FE1F4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153058-A4DF-1B66-6EB6-D8C8BEA0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7F419-0948-4C2B-97E0-7038E3D15E60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84040E-C70B-BA68-2DB4-ABF9C53E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248A0C-86E2-6D41-222B-572A197EA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747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99D14E-E543-F593-6CC1-BD6CC355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0484E-5422-78B8-E877-0475FD5C6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E8AF8-25D2-166A-D326-A86E382AC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84535-2B26-40AE-98B0-725BE7CC6FA8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CE361F-2780-AD8A-029E-27E33A36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1BA2F8-9DB4-FEDA-DD9F-9F0812A6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955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F7A2B6-E224-0B8A-BDF1-59299E9F6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BF8073-A0B6-5B24-E943-A57301429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6A38AC-9DA6-7551-F085-B8824922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1038-2E04-4EFF-AFD3-D1E32DD6BF0A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015644-2DCD-2C0A-3480-77315DCF9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0B2EDC-778D-2E2A-6876-92D46760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0E7B-F47C-4B3B-8383-3274ED26F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41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D7C59B-BBE3-61EA-2905-089A995D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13C405-9A39-3549-2FC6-FBEC6ED2D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0BDCCC-6AB8-9DCE-19E0-776B6902A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B48B8-B1C4-4561-8293-340E4E89454A}" type="datetime1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8D623D-FDA4-EDC8-2100-0EC35EE67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F22241-4D0D-9BC7-9FBF-EC5586BFC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795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1974375-594D-C885-604A-829A29D597A8}"/>
              </a:ext>
            </a:extLst>
          </p:cNvPr>
          <p:cNvSpPr/>
          <p:nvPr/>
        </p:nvSpPr>
        <p:spPr>
          <a:xfrm>
            <a:off x="-9144" y="1316736"/>
            <a:ext cx="905256" cy="2559622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C987450-0F83-E579-3FA6-46E1D8B169AD}"/>
              </a:ext>
            </a:extLst>
          </p:cNvPr>
          <p:cNvCxnSpPr>
            <a:cxnSpLocks/>
          </p:cNvCxnSpPr>
          <p:nvPr/>
        </p:nvCxnSpPr>
        <p:spPr>
          <a:xfrm>
            <a:off x="1395984" y="1316736"/>
            <a:ext cx="8681466" cy="0"/>
          </a:xfrm>
          <a:prstGeom prst="line">
            <a:avLst/>
          </a:prstGeom>
          <a:ln>
            <a:solidFill>
              <a:srgbClr val="589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258" y="1806599"/>
            <a:ext cx="118437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4800" b="1" dirty="0">
                <a:latin typeface="HY헤드라인M"/>
                <a:ea typeface="HY헤드라인M"/>
              </a:rPr>
              <a:t>차량 임베디드 기술 동향</a:t>
            </a:r>
            <a:endParaRPr lang="en-US" altLang="ko-KR" sz="4800" b="1" dirty="0">
              <a:latin typeface="HY헤드라인M"/>
              <a:ea typeface="HY헤드라인M"/>
            </a:endParaRPr>
          </a:p>
        </p:txBody>
      </p:sp>
      <p:pic>
        <p:nvPicPr>
          <p:cNvPr id="2050" name="Picture 2" descr="한국산업기술대학교, 한국공학대학교로 교명 변경하고 비전 선포식 개최-아이씨엔매거진">
            <a:extLst>
              <a:ext uri="{FF2B5EF4-FFF2-40B4-BE49-F238E27FC236}">
                <a16:creationId xmlns:a16="http://schemas.microsoft.com/office/drawing/2014/main" id="{7E8C4C53-107D-6AFD-66B5-0628321DC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228601"/>
            <a:ext cx="2340864" cy="75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부제목 2">
            <a:extLst>
              <a:ext uri="{FF2B5EF4-FFF2-40B4-BE49-F238E27FC236}">
                <a16:creationId xmlns:a16="http://schemas.microsoft.com/office/drawing/2014/main" id="{1BB59771-5702-CD3B-1CE0-1CB4FE508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0427"/>
            <a:ext cx="10052304" cy="2499360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2026-</a:t>
            </a:r>
            <a:r>
              <a:rPr lang="en-US" altLang="ko-KR" sz="2000" dirty="0">
                <a:latin typeface="+mj-ea"/>
                <a:ea typeface="+mj-ea"/>
              </a:rPr>
              <a:t>03</a:t>
            </a:r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-17</a:t>
            </a:r>
          </a:p>
          <a:p>
            <a:pPr lvl="0">
              <a:defRPr/>
            </a:pPr>
            <a:r>
              <a:rPr lang="ko-KR" altLang="en-US" sz="2000" b="1" dirty="0">
                <a:solidFill>
                  <a:schemeClr val="tx1"/>
                </a:solidFill>
                <a:latin typeface="+mj-ea"/>
                <a:ea typeface="+mj-ea"/>
              </a:rPr>
              <a:t>이희준</a:t>
            </a:r>
            <a:endParaRPr lang="ko-KR" altLang="en-US" sz="2000" dirty="0">
              <a:solidFill>
                <a:schemeClr val="tx1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en-US" altLang="ko-KR" sz="2000" dirty="0">
                <a:latin typeface="+mj-ea"/>
                <a:ea typeface="+mj-ea"/>
              </a:rPr>
              <a:t>gmlwns2279@tukorea.ac.kr</a:t>
            </a:r>
          </a:p>
          <a:p>
            <a:pPr lvl="0">
              <a:defRPr/>
            </a:pPr>
            <a:r>
              <a:rPr lang="en-US" altLang="ko-KR" sz="2000" b="0" i="0" dirty="0">
                <a:solidFill>
                  <a:schemeClr val="tx1"/>
                </a:solidFill>
                <a:effectLst/>
                <a:highlight>
                  <a:srgbClr val="FDFDFD"/>
                </a:highlight>
                <a:latin typeface="+mj-ea"/>
                <a:ea typeface="+mj-ea"/>
              </a:rPr>
              <a:t>Dept. of IT Semiconductor Convergence Engineering, TUK</a:t>
            </a:r>
          </a:p>
          <a:p>
            <a:pPr lvl="0">
              <a:defRPr/>
            </a:pPr>
            <a:r>
              <a:rPr lang="en-US" altLang="ko-KR" sz="2000" dirty="0">
                <a:latin typeface="+mj-ea"/>
                <a:ea typeface="+mj-ea"/>
              </a:rPr>
              <a:t>Intelligent Connected-Things (</a:t>
            </a:r>
            <a:r>
              <a:rPr lang="en-US" altLang="ko-KR" sz="2000" dirty="0" err="1">
                <a:latin typeface="+mj-ea"/>
                <a:ea typeface="+mj-ea"/>
              </a:rPr>
              <a:t>ICon</a:t>
            </a:r>
            <a:r>
              <a:rPr lang="en-US" altLang="ko-KR" sz="2000" dirty="0">
                <a:latin typeface="+mj-ea"/>
                <a:ea typeface="+mj-ea"/>
              </a:rPr>
              <a:t>) Lab</a:t>
            </a:r>
            <a:endParaRPr lang="ko-KR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6275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A0B5-5EAE-602E-52BB-349752A92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B23C2E-9C65-5498-D6B2-D4C9D09BA8CE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6BFF22-CDB9-F443-7BDA-CCB53EA8D1BD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F88FB-F46C-D65A-891F-122A8B05A24B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66A477-8767-E242-6302-E505B2053AB1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차량 임베디드 시스템 기술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4FF1E-0F3A-1252-A499-094868183ED8}"/>
              </a:ext>
            </a:extLst>
          </p:cNvPr>
          <p:cNvSpPr txBox="1"/>
          <p:nvPr/>
        </p:nvSpPr>
        <p:spPr>
          <a:xfrm>
            <a:off x="305274" y="1254369"/>
            <a:ext cx="7995446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분산 </a:t>
            </a:r>
            <a:r>
              <a:rPr lang="en-US" altLang="ko-KR" dirty="0"/>
              <a:t>ECU -&gt; </a:t>
            </a:r>
            <a:r>
              <a:rPr lang="ko-KR" altLang="en-US" dirty="0"/>
              <a:t>도메인 </a:t>
            </a:r>
            <a:r>
              <a:rPr lang="en-US" altLang="ko-KR" dirty="0"/>
              <a:t>-&gt; </a:t>
            </a:r>
            <a:r>
              <a:rPr lang="ko-KR" altLang="en-US" dirty="0" err="1"/>
              <a:t>조널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중앙 컴퓨팅</a:t>
            </a:r>
            <a:endParaRPr lang="en-US" altLang="ko-KR" dirty="0"/>
          </a:p>
          <a:p>
            <a:r>
              <a:rPr lang="en-US" altLang="ko-KR" dirty="0"/>
              <a:t>CAN/LIN </a:t>
            </a:r>
            <a:r>
              <a:rPr lang="ko-KR" altLang="en-US" dirty="0"/>
              <a:t>중심 </a:t>
            </a:r>
            <a:r>
              <a:rPr lang="en-US" altLang="ko-KR" dirty="0"/>
              <a:t>-&gt; </a:t>
            </a:r>
            <a:r>
              <a:rPr lang="en-US" altLang="ko-KR" dirty="0" err="1"/>
              <a:t>Ehernet</a:t>
            </a:r>
            <a:r>
              <a:rPr lang="en-US" altLang="ko-KR" dirty="0"/>
              <a:t>/SOA </a:t>
            </a:r>
            <a:r>
              <a:rPr lang="ko-KR" altLang="en-US" dirty="0"/>
              <a:t>확대</a:t>
            </a:r>
            <a:endParaRPr lang="en-US" altLang="ko-KR" dirty="0"/>
          </a:p>
          <a:p>
            <a:r>
              <a:rPr lang="en-US" altLang="ko-KR" dirty="0"/>
              <a:t>RTOS </a:t>
            </a:r>
            <a:r>
              <a:rPr lang="ko-KR" altLang="en-US" dirty="0"/>
              <a:t>중심 </a:t>
            </a:r>
            <a:r>
              <a:rPr lang="en-US" altLang="ko-KR" dirty="0"/>
              <a:t>-&gt; RTOS </a:t>
            </a:r>
            <a:r>
              <a:rPr lang="en-US" altLang="ko-KR"/>
              <a:t>+ Linux/Adaptive </a:t>
            </a:r>
            <a:r>
              <a:rPr lang="en-US" altLang="ko-KR" dirty="0"/>
              <a:t>AUTOSAR </a:t>
            </a:r>
            <a:r>
              <a:rPr lang="ko-KR" altLang="en-US" dirty="0"/>
              <a:t>혼재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FA84F-C58A-39DF-B881-8A0F1D7D847E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차량 시스템은 어떻게 바뀌고 있는가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25832AD-E0FC-8CE3-1977-7C031FA51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283" y="2202067"/>
            <a:ext cx="9021434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27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29842-0CBE-616E-0E12-41FD99554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F39505-A37A-FCCA-61FC-3B256CDF0E4C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6FCC5F-397B-AB85-5424-63A5617E2DFE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F573CC4-C587-F9E9-6C12-71AF3581FA96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45B2225-E768-3E82-E60B-ADCE9B622D1A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구조 변화의 배경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87BB6-6C6F-85EC-2AD7-913FB1F59617}"/>
              </a:ext>
            </a:extLst>
          </p:cNvPr>
          <p:cNvSpPr txBox="1"/>
          <p:nvPr/>
        </p:nvSpPr>
        <p:spPr>
          <a:xfrm>
            <a:off x="305274" y="1254369"/>
            <a:ext cx="7995446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ADAS, </a:t>
            </a:r>
            <a:r>
              <a:rPr lang="ko-KR" altLang="en-US" dirty="0"/>
              <a:t>자율주행</a:t>
            </a:r>
            <a:r>
              <a:rPr lang="en-US" altLang="ko-KR" dirty="0"/>
              <a:t>, </a:t>
            </a:r>
            <a:r>
              <a:rPr lang="ko-KR" altLang="en-US" dirty="0"/>
              <a:t>인포테인먼트</a:t>
            </a:r>
            <a:r>
              <a:rPr lang="en-US" altLang="ko-KR" dirty="0"/>
              <a:t>, </a:t>
            </a:r>
            <a:r>
              <a:rPr lang="ko-KR" altLang="en-US" dirty="0"/>
              <a:t>전동화로 기능 증가</a:t>
            </a:r>
            <a:endParaRPr lang="en-US" altLang="ko-KR" dirty="0"/>
          </a:p>
          <a:p>
            <a:r>
              <a:rPr lang="en-US" altLang="ko-KR" dirty="0"/>
              <a:t>ECU </a:t>
            </a:r>
            <a:r>
              <a:rPr lang="ko-KR" altLang="en-US" dirty="0"/>
              <a:t>수 증가로 배선과 복잡도 증가</a:t>
            </a:r>
            <a:endParaRPr lang="en-US" altLang="ko-KR" dirty="0"/>
          </a:p>
          <a:p>
            <a:r>
              <a:rPr lang="en-US" altLang="ko-KR" dirty="0"/>
              <a:t>OTA </a:t>
            </a:r>
            <a:r>
              <a:rPr lang="ko-KR" altLang="en-US" dirty="0"/>
              <a:t>업데이트 필요</a:t>
            </a:r>
            <a:endParaRPr lang="en-US" altLang="ko-KR" dirty="0"/>
          </a:p>
          <a:p>
            <a:r>
              <a:rPr lang="ko-KR" altLang="en-US" dirty="0"/>
              <a:t>센서 데이터 증가로 중앙 처리 필요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7F9B8F-0801-13CD-180F-2A8AFB053B8C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구조 변화의 배경</a:t>
            </a:r>
          </a:p>
        </p:txBody>
      </p:sp>
    </p:spTree>
    <p:extLst>
      <p:ext uri="{BB962C8B-B14F-4D97-AF65-F5344CB8AC3E}">
        <p14:creationId xmlns:p14="http://schemas.microsoft.com/office/powerpoint/2010/main" val="2694436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505E2-BA57-BB17-BAB4-1536E9660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70F20F8-0AFD-483B-69E4-B16ABB10BC16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BC52CB-454F-990A-C286-C06F5E0186CC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5EDD5A-96D1-70A7-C488-2DB087BA6940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741171-FAC2-9E40-9FE2-9B53937DC091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세대 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분산 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ECU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구조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BEC6C0-B29D-8C78-0324-A725E7A7238E}"/>
              </a:ext>
            </a:extLst>
          </p:cNvPr>
          <p:cNvSpPr txBox="1"/>
          <p:nvPr/>
        </p:nvSpPr>
        <p:spPr>
          <a:xfrm>
            <a:off x="305274" y="1254369"/>
            <a:ext cx="7995446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기능별로 </a:t>
            </a:r>
            <a:r>
              <a:rPr lang="en-US" altLang="ko-KR" dirty="0"/>
              <a:t>ECU </a:t>
            </a:r>
            <a:r>
              <a:rPr lang="ko-KR" altLang="en-US" dirty="0"/>
              <a:t>가 따로 존재</a:t>
            </a:r>
            <a:endParaRPr lang="en-US" altLang="ko-KR" dirty="0"/>
          </a:p>
          <a:p>
            <a:r>
              <a:rPr lang="en-US" altLang="ko-KR" dirty="0"/>
              <a:t>CAN/LIN </a:t>
            </a:r>
            <a:r>
              <a:rPr lang="ko-KR" altLang="en-US" dirty="0"/>
              <a:t>기반 연결</a:t>
            </a:r>
            <a:endParaRPr lang="en-US" altLang="ko-KR" dirty="0"/>
          </a:p>
          <a:p>
            <a:r>
              <a:rPr lang="ko-KR" altLang="en-US" dirty="0"/>
              <a:t>구조는 직관적이지만 </a:t>
            </a:r>
            <a:r>
              <a:rPr lang="en-US" altLang="ko-KR" dirty="0"/>
              <a:t>ECU </a:t>
            </a:r>
            <a:r>
              <a:rPr lang="ko-KR" altLang="en-US" dirty="0"/>
              <a:t>수가 많아질수록 복잡도 증가</a:t>
            </a:r>
            <a:endParaRPr lang="en-US" altLang="ko-KR" dirty="0"/>
          </a:p>
          <a:p>
            <a:r>
              <a:rPr lang="en-US" altLang="ko-KR" dirty="0"/>
              <a:t>OTA</a:t>
            </a:r>
            <a:r>
              <a:rPr lang="ko-KR" altLang="en-US" dirty="0"/>
              <a:t>나 크로스 도메인 통합이 어려움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6EA0384-1FE0-F050-2A15-290F5D2DE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211" y="2825474"/>
            <a:ext cx="6763578" cy="31556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C86E52-AC88-4E04-0BC6-5C344E11C198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기존 차량 구조 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분산 </a:t>
            </a:r>
            <a:r>
              <a:rPr lang="en-US" altLang="ko-KR" sz="2400" b="1" dirty="0"/>
              <a:t>ECU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08950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E799C-D1C0-8763-5FC7-79F5CF2D2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257A7B-1688-0AFC-DEED-67C769EF9E96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4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A46857-D9E2-CB2E-9859-1F0276624306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D296E6-2A6D-D4B9-61FF-E4FE6EE42B48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E54A63-1734-5767-668A-D72CBF24247A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세대 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도메인 구조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2E8C2-603E-A464-F4FD-F59ECB4F236C}"/>
              </a:ext>
            </a:extLst>
          </p:cNvPr>
          <p:cNvSpPr txBox="1"/>
          <p:nvPr/>
        </p:nvSpPr>
        <p:spPr>
          <a:xfrm>
            <a:off x="305274" y="1254369"/>
            <a:ext cx="7995446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차체</a:t>
            </a:r>
            <a:r>
              <a:rPr lang="en-US" altLang="ko-KR" dirty="0"/>
              <a:t>, </a:t>
            </a:r>
            <a:r>
              <a:rPr lang="ko-KR" altLang="en-US" dirty="0"/>
              <a:t>파워트레인</a:t>
            </a:r>
            <a:r>
              <a:rPr lang="en-US" altLang="ko-KR" dirty="0"/>
              <a:t>, ADAS , IVI </a:t>
            </a:r>
            <a:r>
              <a:rPr lang="ko-KR" altLang="en-US" dirty="0"/>
              <a:t>등 기능별 통합</a:t>
            </a:r>
            <a:endParaRPr lang="en-US" altLang="ko-KR" dirty="0"/>
          </a:p>
          <a:p>
            <a:r>
              <a:rPr lang="en-US" altLang="ko-KR" dirty="0"/>
              <a:t>ECU </a:t>
            </a:r>
            <a:r>
              <a:rPr lang="ko-KR" altLang="en-US" dirty="0"/>
              <a:t>수를 일부 줄일 수 있음</a:t>
            </a:r>
            <a:endParaRPr lang="en-US" altLang="ko-KR" dirty="0"/>
          </a:p>
          <a:p>
            <a:r>
              <a:rPr lang="ko-KR" altLang="en-US" dirty="0"/>
              <a:t>하지만 도메인 경계가 남아 중앙 통합에는 한계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F739E-76FE-2842-3D7B-C1ADB5D40BA7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도메인 컨트롤러 구조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C3305F-086E-FD56-9308-766889BFE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666" y="2484370"/>
            <a:ext cx="6942483" cy="376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97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C6F18-0DBE-F0C5-2EC6-AB5F6B01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7BBED7-D4B9-CF95-24C3-E92324F7D598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5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E5664D-30C7-5B5F-2BF7-39DF23E09D6A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079FD4D-7541-4999-AD72-7FD9768D9F94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2069444-1A63-987F-6A2A-EFBAFA203C42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세대 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</a:t>
            </a:r>
            <a:r>
              <a:rPr lang="ko-KR" altLang="en-US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조널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+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중앙 컴퓨팅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88B2E-469D-446A-332A-4A8AF9BCB889}"/>
              </a:ext>
            </a:extLst>
          </p:cNvPr>
          <p:cNvSpPr txBox="1"/>
          <p:nvPr/>
        </p:nvSpPr>
        <p:spPr>
          <a:xfrm>
            <a:off x="305274" y="1254369"/>
            <a:ext cx="7995446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기능 기준이 아니라 차량 위치 기준으로 묶음</a:t>
            </a:r>
            <a:endParaRPr lang="en-US" altLang="ko-KR" dirty="0"/>
          </a:p>
          <a:p>
            <a:r>
              <a:rPr lang="en-US" altLang="ko-KR" dirty="0"/>
              <a:t>Zone ECU</a:t>
            </a:r>
            <a:r>
              <a:rPr lang="ko-KR" altLang="en-US" dirty="0"/>
              <a:t>가 센서</a:t>
            </a:r>
            <a:r>
              <a:rPr lang="en-US" altLang="ko-KR" dirty="0"/>
              <a:t>/</a:t>
            </a:r>
            <a:r>
              <a:rPr lang="ko-KR" altLang="en-US" dirty="0" err="1"/>
              <a:t>액추에이터를</a:t>
            </a:r>
            <a:r>
              <a:rPr lang="ko-KR" altLang="en-US" dirty="0"/>
              <a:t> </a:t>
            </a:r>
            <a:r>
              <a:rPr lang="ko-KR" altLang="en-US" dirty="0" err="1"/>
              <a:t>집선</a:t>
            </a:r>
            <a:endParaRPr lang="en-US" altLang="ko-KR" dirty="0"/>
          </a:p>
          <a:p>
            <a:r>
              <a:rPr lang="ko-KR" altLang="en-US" dirty="0"/>
              <a:t>중앙 </a:t>
            </a:r>
            <a:r>
              <a:rPr lang="en-US" altLang="ko-KR" dirty="0"/>
              <a:t>HPC</a:t>
            </a:r>
            <a:r>
              <a:rPr lang="ko-KR" altLang="en-US" dirty="0"/>
              <a:t>가 데이터와 기능을 통합 처리</a:t>
            </a:r>
            <a:endParaRPr lang="en-US" altLang="ko-KR" dirty="0"/>
          </a:p>
          <a:p>
            <a:r>
              <a:rPr lang="ko-KR" altLang="en-US" dirty="0" err="1"/>
              <a:t>하네스</a:t>
            </a:r>
            <a:r>
              <a:rPr lang="ko-KR" altLang="en-US" dirty="0"/>
              <a:t> 단순화</a:t>
            </a:r>
            <a:r>
              <a:rPr lang="en-US" altLang="ko-KR" dirty="0"/>
              <a:t>, OTA</a:t>
            </a:r>
            <a:r>
              <a:rPr lang="ko-KR" altLang="en-US" dirty="0"/>
              <a:t>와 서비스 운영이 </a:t>
            </a:r>
            <a:r>
              <a:rPr lang="ko-KR" altLang="en-US" dirty="0" err="1"/>
              <a:t>쉬워짐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9429D2-B09F-491C-5CD0-BED81AE5E383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</a:t>
            </a:r>
            <a:r>
              <a:rPr lang="ko-KR" altLang="en-US" sz="2400" b="1" dirty="0" err="1"/>
              <a:t>조널</a:t>
            </a:r>
            <a:r>
              <a:rPr lang="ko-KR" altLang="en-US" sz="2400" b="1" dirty="0"/>
              <a:t> 아키텍처와 중앙 컴퓨팅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3E9DC9-E1F3-DB87-0929-11F339528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836" y="2863719"/>
            <a:ext cx="6052932" cy="326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55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AF3C5-B62F-8B65-AC96-F1F94334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8FCDFF-700C-2637-2578-E06877118C53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6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97E093-4ABF-60A6-D3C4-CD0F86D7426C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394C3CF-0074-EC01-4889-E1F298E04183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6BFED9-AFC2-2554-822F-600FC5555018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차량용 운영체제의 역할 변화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6C579-0692-DF62-0B60-B69908309659}"/>
              </a:ext>
            </a:extLst>
          </p:cNvPr>
          <p:cNvSpPr txBox="1"/>
          <p:nvPr/>
        </p:nvSpPr>
        <p:spPr>
          <a:xfrm>
            <a:off x="305274" y="1254369"/>
            <a:ext cx="7995446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말단 </a:t>
            </a:r>
            <a:r>
              <a:rPr lang="en-US" altLang="ko-KR" dirty="0"/>
              <a:t>ECU : RTOS </a:t>
            </a:r>
            <a:r>
              <a:rPr lang="ko-KR" altLang="en-US" dirty="0"/>
              <a:t>중심</a:t>
            </a:r>
            <a:endParaRPr lang="en-US" altLang="ko-KR" dirty="0"/>
          </a:p>
          <a:p>
            <a:r>
              <a:rPr lang="ko-KR" altLang="en-US" dirty="0"/>
              <a:t>중앙 컴퓨팅 </a:t>
            </a:r>
            <a:r>
              <a:rPr lang="en-US" altLang="ko-KR" dirty="0"/>
              <a:t>: Linux/POSIX </a:t>
            </a:r>
            <a:r>
              <a:rPr lang="ko-KR" altLang="en-US" dirty="0"/>
              <a:t>기반 확대</a:t>
            </a:r>
            <a:endParaRPr lang="en-US" altLang="ko-KR" dirty="0"/>
          </a:p>
          <a:p>
            <a:r>
              <a:rPr lang="ko-KR" altLang="en-US" dirty="0"/>
              <a:t>중요 이슈 </a:t>
            </a:r>
            <a:r>
              <a:rPr lang="en-US" altLang="ko-KR" dirty="0"/>
              <a:t>: </a:t>
            </a:r>
            <a:r>
              <a:rPr lang="ko-KR" altLang="en-US" dirty="0"/>
              <a:t>실시간성</a:t>
            </a:r>
            <a:r>
              <a:rPr lang="en-US" altLang="ko-KR" dirty="0"/>
              <a:t>, </a:t>
            </a:r>
            <a:r>
              <a:rPr lang="ko-KR" altLang="en-US" dirty="0"/>
              <a:t>동기화</a:t>
            </a:r>
            <a:r>
              <a:rPr lang="en-US" altLang="ko-KR" dirty="0"/>
              <a:t>, </a:t>
            </a:r>
            <a:r>
              <a:rPr lang="ko-KR" altLang="en-US" dirty="0"/>
              <a:t>장애 격리</a:t>
            </a:r>
            <a:r>
              <a:rPr lang="en-US" altLang="ko-KR" dirty="0"/>
              <a:t>, </a:t>
            </a:r>
            <a:r>
              <a:rPr lang="ko-KR" altLang="en-US" dirty="0"/>
              <a:t>성능 유지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DBF0D-44B3-1A35-77DA-F88B0ACE9EDE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구조 변화에 따른 </a:t>
            </a:r>
            <a:r>
              <a:rPr lang="en-US" altLang="ko-KR" sz="2400" b="1" dirty="0"/>
              <a:t>OS </a:t>
            </a:r>
            <a:r>
              <a:rPr lang="ko-KR" altLang="en-US" sz="2400" b="1" dirty="0"/>
              <a:t>역할 변화</a:t>
            </a:r>
          </a:p>
        </p:txBody>
      </p:sp>
      <p:pic>
        <p:nvPicPr>
          <p:cNvPr id="1026" name="Picture 2" descr="실시간 운영체제 (RTOS)">
            <a:extLst>
              <a:ext uri="{FF2B5EF4-FFF2-40B4-BE49-F238E27FC236}">
                <a16:creationId xmlns:a16="http://schemas.microsoft.com/office/drawing/2014/main" id="{5DDDEB23-87C7-4F51-4562-CEAD5BD64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836" y="2620469"/>
            <a:ext cx="6177280" cy="347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3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B9D02-5AD5-90A1-403A-42E22E2C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89F5A3-6984-75D4-A3CE-1702E86294A3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7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7319E6-A515-E2E6-3A9C-A5A7043E8243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58B887-15F5-231A-74E3-47205A522EFE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F6032C-5776-88A2-5691-09643A83EB9E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AUTOSAR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와 플랫폼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70771-2F28-A134-3146-4C8E4F624BBE}"/>
              </a:ext>
            </a:extLst>
          </p:cNvPr>
          <p:cNvSpPr txBox="1"/>
          <p:nvPr/>
        </p:nvSpPr>
        <p:spPr>
          <a:xfrm>
            <a:off x="305274" y="1254369"/>
            <a:ext cx="7995446" cy="14773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차량 플랫폼은 통신</a:t>
            </a:r>
            <a:r>
              <a:rPr lang="en-US" altLang="ko-KR" dirty="0"/>
              <a:t>, </a:t>
            </a:r>
            <a:r>
              <a:rPr lang="ko-KR" altLang="en-US" dirty="0"/>
              <a:t>진단</a:t>
            </a:r>
            <a:r>
              <a:rPr lang="en-US" altLang="ko-KR" dirty="0"/>
              <a:t>, </a:t>
            </a:r>
            <a:r>
              <a:rPr lang="ko-KR" altLang="en-US" dirty="0"/>
              <a:t>시간 동기</a:t>
            </a:r>
            <a:r>
              <a:rPr lang="en-US" altLang="ko-KR" dirty="0"/>
              <a:t>, </a:t>
            </a:r>
            <a:r>
              <a:rPr lang="ko-KR" altLang="en-US" dirty="0"/>
              <a:t>로깅</a:t>
            </a:r>
            <a:r>
              <a:rPr lang="en-US" altLang="ko-KR" dirty="0"/>
              <a:t>, OTA. </a:t>
            </a:r>
            <a:r>
              <a:rPr lang="ko-KR" altLang="en-US" dirty="0"/>
              <a:t>보안 기능 필요</a:t>
            </a:r>
            <a:endParaRPr lang="en-US" altLang="ko-KR" dirty="0"/>
          </a:p>
          <a:p>
            <a:r>
              <a:rPr lang="en-US" altLang="ko-KR" dirty="0"/>
              <a:t>Classic AUTOSAR : MCU </a:t>
            </a:r>
            <a:r>
              <a:rPr lang="ko-KR" altLang="en-US" dirty="0"/>
              <a:t>제어 영역</a:t>
            </a:r>
            <a:endParaRPr lang="en-US" altLang="ko-KR" dirty="0"/>
          </a:p>
          <a:p>
            <a:r>
              <a:rPr lang="en-US" altLang="ko-KR" dirty="0"/>
              <a:t>Adaptive AUTOSAR : </a:t>
            </a:r>
            <a:r>
              <a:rPr lang="ko-KR" altLang="en-US" dirty="0"/>
              <a:t>고성능 컴퓨팅 영역</a:t>
            </a:r>
            <a:endParaRPr lang="en-US" altLang="ko-KR" dirty="0"/>
          </a:p>
          <a:p>
            <a:r>
              <a:rPr lang="ko-KR" altLang="en-US" dirty="0"/>
              <a:t>실제 차량은 </a:t>
            </a:r>
            <a:r>
              <a:rPr lang="en-US" altLang="ko-KR" dirty="0"/>
              <a:t>Classic + Adaptive + Linux </a:t>
            </a:r>
            <a:r>
              <a:rPr lang="ko-KR" altLang="en-US" dirty="0"/>
              <a:t>혼재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B70E19-32D1-F91F-379C-9EB968F62F56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</a:t>
            </a:r>
            <a:r>
              <a:rPr lang="en-US" altLang="ko-KR" sz="2400" b="1" dirty="0"/>
              <a:t>AUTOSAR</a:t>
            </a:r>
            <a:r>
              <a:rPr lang="ko-KR" altLang="en-US" sz="2400" b="1" dirty="0"/>
              <a:t>는 어디에 쓰이는가</a:t>
            </a:r>
          </a:p>
        </p:txBody>
      </p:sp>
      <p:pic>
        <p:nvPicPr>
          <p:cNvPr id="2053" name="Picture 5" descr="What is AUTOSAR? - MATLAB &amp; Simulink">
            <a:extLst>
              <a:ext uri="{FF2B5EF4-FFF2-40B4-BE49-F238E27FC236}">
                <a16:creationId xmlns:a16="http://schemas.microsoft.com/office/drawing/2014/main" id="{A8E00AAA-F72C-A8AC-DD6E-301E1E0FD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827" y="2731697"/>
            <a:ext cx="5554345" cy="312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52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611E8-F953-83CC-6CD0-3ECE2103A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D2B666-1C72-A55D-F781-8014B08DEF21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8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A4DD2D-AE3C-C464-F2CF-A76A4CBBD269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51B5F44-598A-5C49-4083-C82FAC65866A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682361B-430E-DC66-A113-BCFD6C07FDA9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개발과 운영 방식의 변화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B02C9-7D5B-DD99-E2FC-F7577544536F}"/>
              </a:ext>
            </a:extLst>
          </p:cNvPr>
          <p:cNvSpPr txBox="1"/>
          <p:nvPr/>
        </p:nvSpPr>
        <p:spPr>
          <a:xfrm>
            <a:off x="305274" y="1254369"/>
            <a:ext cx="7995446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실물 </a:t>
            </a:r>
            <a:r>
              <a:rPr lang="en-US" altLang="ko-KR" dirty="0"/>
              <a:t>ECU </a:t>
            </a:r>
            <a:r>
              <a:rPr lang="ko-KR" altLang="en-US" dirty="0"/>
              <a:t>중심 개발 </a:t>
            </a:r>
            <a:r>
              <a:rPr lang="en-US" altLang="ko-KR" dirty="0"/>
              <a:t>-&gt; </a:t>
            </a:r>
            <a:r>
              <a:rPr lang="en-US" altLang="ko-KR" dirty="0" err="1"/>
              <a:t>vECU</a:t>
            </a:r>
            <a:r>
              <a:rPr lang="en-US" altLang="ko-KR" dirty="0"/>
              <a:t>/SIL </a:t>
            </a:r>
            <a:r>
              <a:rPr lang="ko-KR" altLang="en-US" dirty="0"/>
              <a:t>기반 </a:t>
            </a:r>
            <a:r>
              <a:rPr lang="en-US" altLang="ko-KR" dirty="0"/>
              <a:t>Shift-left</a:t>
            </a:r>
          </a:p>
          <a:p>
            <a:r>
              <a:rPr lang="ko-KR" altLang="en-US" dirty="0"/>
              <a:t>출고 후 고정 소프트웨어 </a:t>
            </a:r>
            <a:r>
              <a:rPr lang="en-US" altLang="ko-KR" dirty="0"/>
              <a:t>-&gt; OTA </a:t>
            </a:r>
            <a:r>
              <a:rPr lang="ko-KR" altLang="en-US" dirty="0"/>
              <a:t>기반 지속 업데이트</a:t>
            </a:r>
            <a:endParaRPr lang="en-US" altLang="ko-KR" dirty="0"/>
          </a:p>
          <a:p>
            <a:r>
              <a:rPr lang="ko-KR" altLang="en-US" dirty="0" err="1"/>
              <a:t>관측성</a:t>
            </a:r>
            <a:r>
              <a:rPr lang="en-US" altLang="ko-KR" dirty="0"/>
              <a:t>, </a:t>
            </a:r>
            <a:r>
              <a:rPr lang="ko-KR" altLang="en-US" dirty="0"/>
              <a:t>헬스체크</a:t>
            </a:r>
            <a:r>
              <a:rPr lang="en-US" altLang="ko-KR" dirty="0"/>
              <a:t>, </a:t>
            </a:r>
            <a:r>
              <a:rPr lang="ko-KR" altLang="en-US" dirty="0"/>
              <a:t>롤백</a:t>
            </a:r>
            <a:r>
              <a:rPr lang="en-US" altLang="ko-KR" dirty="0"/>
              <a:t>, </a:t>
            </a:r>
            <a:r>
              <a:rPr lang="ko-KR" altLang="en-US" dirty="0"/>
              <a:t>보안이 중요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7202B-1C0D-CE24-4D00-3324463AED14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개발</a:t>
            </a:r>
            <a:r>
              <a:rPr lang="en-US" altLang="ko-KR" sz="2400" b="1" dirty="0"/>
              <a:t>,</a:t>
            </a:r>
            <a:r>
              <a:rPr lang="ko-KR" altLang="en-US" sz="2400" b="1" dirty="0"/>
              <a:t>검증</a:t>
            </a:r>
            <a:r>
              <a:rPr lang="en-US" altLang="ko-KR" sz="2400" b="1" dirty="0"/>
              <a:t>,</a:t>
            </a:r>
            <a:r>
              <a:rPr lang="ko-KR" altLang="en-US" sz="2400" b="1" dirty="0"/>
              <a:t>운영의 변화</a:t>
            </a:r>
          </a:p>
        </p:txBody>
      </p:sp>
      <p:pic>
        <p:nvPicPr>
          <p:cNvPr id="3074" name="Picture 2" descr="ECU-vECU – FPT Automotive">
            <a:extLst>
              <a:ext uri="{FF2B5EF4-FFF2-40B4-BE49-F238E27FC236}">
                <a16:creationId xmlns:a16="http://schemas.microsoft.com/office/drawing/2014/main" id="{E3EBFED2-BDA8-8F7F-0BF8-9A608E70B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099820"/>
            <a:ext cx="3781683" cy="4658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625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7BD88-A7AE-2D43-3A34-2F55825C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9EB4DC-ECC9-F0B0-8123-C6F22E8ADB2E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9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87EBAC-2972-B266-9C82-781154255395}"/>
              </a:ext>
            </a:extLst>
          </p:cNvPr>
          <p:cNvSpPr/>
          <p:nvPr/>
        </p:nvSpPr>
        <p:spPr>
          <a:xfrm>
            <a:off x="0" y="0"/>
            <a:ext cx="12192000" cy="6537960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BF655B-43CE-DDB4-8DEC-6207CFC338F6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3E3239-6B57-FADD-8474-191CED8AD773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1C23A-DC8B-055B-81E5-531837AAF183}"/>
              </a:ext>
            </a:extLst>
          </p:cNvPr>
          <p:cNvSpPr txBox="1"/>
          <p:nvPr/>
        </p:nvSpPr>
        <p:spPr>
          <a:xfrm>
            <a:off x="305274" y="1254369"/>
            <a:ext cx="7995446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/>
              <a:t>차량 구조는 분산 </a:t>
            </a:r>
            <a:r>
              <a:rPr lang="en-US" altLang="ko-KR" dirty="0" err="1"/>
              <a:t>eCU</a:t>
            </a:r>
            <a:r>
              <a:rPr lang="en-US" altLang="ko-KR" dirty="0"/>
              <a:t> </a:t>
            </a:r>
            <a:r>
              <a:rPr lang="ko-KR" altLang="en-US" dirty="0"/>
              <a:t>에서 </a:t>
            </a:r>
            <a:r>
              <a:rPr lang="ko-KR" altLang="en-US" dirty="0" err="1"/>
              <a:t>조널</a:t>
            </a:r>
            <a:r>
              <a:rPr lang="en-US" altLang="ko-KR" dirty="0"/>
              <a:t>+ </a:t>
            </a:r>
            <a:r>
              <a:rPr lang="ko-KR" altLang="en-US" dirty="0"/>
              <a:t>중앙 컴퓨팅으로 이동 중</a:t>
            </a:r>
            <a:endParaRPr lang="en-US" altLang="ko-KR" dirty="0"/>
          </a:p>
          <a:p>
            <a:r>
              <a:rPr lang="ko-KR" altLang="en-US" dirty="0"/>
              <a:t>이에 따라 </a:t>
            </a:r>
            <a:r>
              <a:rPr lang="en-US" altLang="ko-KR" dirty="0"/>
              <a:t>OS</a:t>
            </a:r>
            <a:r>
              <a:rPr lang="ko-KR" altLang="en-US" dirty="0"/>
              <a:t>는 </a:t>
            </a:r>
            <a:r>
              <a:rPr lang="en-US" altLang="ko-KR" dirty="0"/>
              <a:t>RTOS </a:t>
            </a:r>
            <a:r>
              <a:rPr lang="ko-KR" altLang="en-US" dirty="0"/>
              <a:t>단일 구조가 아니라 이종 </a:t>
            </a:r>
            <a:r>
              <a:rPr lang="en-US" altLang="ko-KR" dirty="0"/>
              <a:t>OS </a:t>
            </a:r>
            <a:r>
              <a:rPr lang="ko-KR" altLang="en-US" dirty="0"/>
              <a:t>혼재 플랫폼으로 발전</a:t>
            </a:r>
            <a:endParaRPr lang="en-US" altLang="ko-KR" dirty="0"/>
          </a:p>
          <a:p>
            <a:r>
              <a:rPr lang="en-US" altLang="ko-KR" dirty="0"/>
              <a:t>AUTOSAR,OTA, </a:t>
            </a:r>
            <a:r>
              <a:rPr lang="ko-KR" altLang="en-US" dirty="0"/>
              <a:t>가상화</a:t>
            </a:r>
            <a:r>
              <a:rPr lang="en-US" altLang="ko-KR" dirty="0"/>
              <a:t>, </a:t>
            </a:r>
            <a:r>
              <a:rPr lang="ko-KR" altLang="en-US" dirty="0"/>
              <a:t>보안까지 포함한 플랫폼 관점이 중요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728E1C-E767-29C2-D527-6D7A36EB852A}"/>
              </a:ext>
            </a:extLst>
          </p:cNvPr>
          <p:cNvSpPr txBox="1"/>
          <p:nvPr/>
        </p:nvSpPr>
        <p:spPr>
          <a:xfrm>
            <a:off x="-235" y="768336"/>
            <a:ext cx="5846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  ■ 결론</a:t>
            </a:r>
          </a:p>
        </p:txBody>
      </p:sp>
    </p:spTree>
    <p:extLst>
      <p:ext uri="{BB962C8B-B14F-4D97-AF65-F5344CB8AC3E}">
        <p14:creationId xmlns:p14="http://schemas.microsoft.com/office/powerpoint/2010/main" val="3210619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5104B-F9BD-A3D3-FD0D-07164BEC7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0ACE77-E7FB-2E3E-0D70-9D9B0EDE2B56}"/>
              </a:ext>
            </a:extLst>
          </p:cNvPr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57FAC3-987A-6353-8E95-91289675CA8D}"/>
              </a:ext>
            </a:extLst>
          </p:cNvPr>
          <p:cNvSpPr/>
          <p:nvPr/>
        </p:nvSpPr>
        <p:spPr>
          <a:xfrm>
            <a:off x="0" y="466344"/>
            <a:ext cx="12192000" cy="6071616"/>
          </a:xfrm>
          <a:prstGeom prst="rect">
            <a:avLst/>
          </a:prstGeom>
          <a:solidFill>
            <a:srgbClr val="EFF3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4AED68-A221-6DC9-A151-DB9CCD0C5B06}"/>
              </a:ext>
            </a:extLst>
          </p:cNvPr>
          <p:cNvSpPr/>
          <p:nvPr/>
        </p:nvSpPr>
        <p:spPr>
          <a:xfrm>
            <a:off x="210786" y="149472"/>
            <a:ext cx="277368" cy="539496"/>
          </a:xfrm>
          <a:prstGeom prst="rect">
            <a:avLst/>
          </a:prstGeom>
          <a:solidFill>
            <a:srgbClr val="89C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5C3C704-EBE9-9CF7-47E8-8D7FA279FFFE}"/>
              </a:ext>
            </a:extLst>
          </p:cNvPr>
          <p:cNvSpPr/>
          <p:nvPr/>
        </p:nvSpPr>
        <p:spPr>
          <a:xfrm>
            <a:off x="305274" y="79368"/>
            <a:ext cx="5540634" cy="539496"/>
          </a:xfrm>
          <a:prstGeom prst="rect">
            <a:avLst/>
          </a:prstGeom>
          <a:solidFill>
            <a:srgbClr val="5894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마무리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34F788-45E3-AFE7-A183-2E9882012D58}"/>
              </a:ext>
            </a:extLst>
          </p:cNvPr>
          <p:cNvSpPr txBox="1">
            <a:spLocks/>
          </p:cNvSpPr>
          <p:nvPr/>
        </p:nvSpPr>
        <p:spPr>
          <a:xfrm>
            <a:off x="1615440" y="1497403"/>
            <a:ext cx="9144000" cy="1224279"/>
          </a:xfrm>
          <a:prstGeom prst="rect">
            <a:avLst/>
          </a:prstGeom>
          <a:solidFill>
            <a:srgbClr val="EFF3F8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5000" b="1" dirty="0">
                <a:solidFill>
                  <a:srgbClr val="000000"/>
                </a:solidFill>
                <a:latin typeface="+mj-ea"/>
              </a:rPr>
              <a:t>Thank you</a:t>
            </a:r>
            <a:endParaRPr lang="ko-KR" altLang="en-US" sz="50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A5AD07-7BFF-3BF1-6FF8-D2469E83F69C}"/>
              </a:ext>
            </a:extLst>
          </p:cNvPr>
          <p:cNvSpPr txBox="1">
            <a:spLocks/>
          </p:cNvSpPr>
          <p:nvPr/>
        </p:nvSpPr>
        <p:spPr>
          <a:xfrm>
            <a:off x="1524000" y="3752741"/>
            <a:ext cx="9144000" cy="2499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altLang="ko-KR" sz="2000" dirty="0">
                <a:latin typeface="+mj-ea"/>
                <a:ea typeface="+mj-ea"/>
              </a:rPr>
              <a:t>2026-03-17</a:t>
            </a:r>
          </a:p>
          <a:p>
            <a:pPr algn="ctr">
              <a:defRPr/>
            </a:pPr>
            <a:endParaRPr lang="en-US" altLang="ko-KR" sz="2000" dirty="0">
              <a:latin typeface="+mj-ea"/>
              <a:ea typeface="+mj-ea"/>
            </a:endParaRPr>
          </a:p>
          <a:p>
            <a:pPr marL="0" indent="0" algn="ctr">
              <a:buNone/>
              <a:defRPr/>
            </a:pPr>
            <a:r>
              <a:rPr lang="ko-KR" altLang="en-US" sz="2000" b="1" dirty="0">
                <a:latin typeface="+mj-ea"/>
                <a:ea typeface="+mj-ea"/>
              </a:rPr>
              <a:t>이희준</a:t>
            </a:r>
            <a:endParaRPr lang="en-US" altLang="ko-KR" sz="2000" dirty="0">
              <a:latin typeface="+mj-ea"/>
              <a:ea typeface="+mj-ea"/>
            </a:endParaRPr>
          </a:p>
          <a:p>
            <a:pPr marL="0" indent="0" algn="ctr">
              <a:buNone/>
              <a:defRPr/>
            </a:pPr>
            <a:r>
              <a:rPr lang="en-US" altLang="ko-KR" sz="2000" dirty="0">
                <a:latin typeface="+mj-ea"/>
                <a:ea typeface="+mj-ea"/>
              </a:rPr>
              <a:t>gmlwns2279@tukorea.ac.kr</a:t>
            </a:r>
          </a:p>
          <a:p>
            <a:pPr marL="0" indent="0" algn="ctr">
              <a:buNone/>
              <a:defRPr/>
            </a:pPr>
            <a:r>
              <a:rPr lang="en-US" altLang="ko-KR" sz="2000" dirty="0">
                <a:latin typeface="+mj-ea"/>
                <a:ea typeface="+mj-ea"/>
              </a:rPr>
              <a:t>Dept. of IT Semiconductor Convergence Engineering, TUK</a:t>
            </a:r>
          </a:p>
          <a:p>
            <a:pPr marL="0" indent="0" algn="ctr">
              <a:buNone/>
            </a:pPr>
            <a:r>
              <a:rPr lang="en-US" altLang="ko-KR" sz="2000" dirty="0">
                <a:latin typeface="+mj-ea"/>
                <a:ea typeface="+mj-ea"/>
              </a:rPr>
              <a:t>Intelligent Connected-Things (</a:t>
            </a:r>
            <a:r>
              <a:rPr lang="en-US" altLang="ko-KR" sz="2000" dirty="0" err="1">
                <a:latin typeface="+mj-ea"/>
                <a:ea typeface="+mj-ea"/>
              </a:rPr>
              <a:t>ICon</a:t>
            </a:r>
            <a:r>
              <a:rPr lang="en-US" altLang="ko-KR" sz="2000" dirty="0">
                <a:latin typeface="+mj-ea"/>
                <a:ea typeface="+mj-ea"/>
              </a:rPr>
              <a:t>) Lab</a:t>
            </a:r>
            <a:endParaRPr lang="ko-KR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4020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6225</TotalTime>
  <Words>423</Words>
  <Application>Microsoft Office PowerPoint</Application>
  <PresentationFormat>와이드스크린</PresentationFormat>
  <Paragraphs>85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이희준(2025811065)</dc:creator>
  <cp:lastModifiedBy>이희준(2025811065)</cp:lastModifiedBy>
  <cp:revision>879</cp:revision>
  <dcterms:created xsi:type="dcterms:W3CDTF">2025-05-16T02:02:27Z</dcterms:created>
  <dcterms:modified xsi:type="dcterms:W3CDTF">2026-03-17T14:32:22Z</dcterms:modified>
  <cp:version/>
</cp:coreProperties>
</file>