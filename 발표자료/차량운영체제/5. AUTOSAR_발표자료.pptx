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8750" autoAdjust="0"/>
  </p:normalViewPr>
  <p:slideViewPr>
    <p:cSldViewPr snapToGrid="0" snapToObjects="1">
      <p:cViewPr>
        <p:scale>
          <a:sx n="75" d="100"/>
          <a:sy n="75" d="100"/>
        </p:scale>
        <p:origin x="70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93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 이희준입니다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AUTOSAR의 출발점은 자동차 기능의 중심이 소프트웨어로 이동했다는 점입니다. </a:t>
            </a:r>
          </a:p>
          <a:p>
            <a:r>
              <a:rPr lang="ko-KR" altLang="en-US" dirty="0"/>
              <a:t>이는 </a:t>
            </a:r>
            <a:r>
              <a:rPr lang="en-US" altLang="ko-KR" dirty="0"/>
              <a:t>SDV(Software Defined Vehicle) </a:t>
            </a:r>
            <a:r>
              <a:rPr lang="ko-KR" altLang="en-US" dirty="0"/>
              <a:t>을 의미하는데 자동차의 매력과 성능이 단순히 엔진의 </a:t>
            </a:r>
            <a:r>
              <a:rPr lang="ko-KR" altLang="en-US" dirty="0" err="1"/>
              <a:t>마력수</a:t>
            </a:r>
            <a:r>
              <a:rPr lang="ko-KR" altLang="en-US" dirty="0"/>
              <a:t> 뿐만 아니라 훌륭한 소프트웨어나 무선 업데이트 기능을 갖췄느냐 로 결정</a:t>
            </a:r>
            <a:endParaRPr lang="en-US" dirty="0"/>
          </a:p>
          <a:p>
            <a:r>
              <a:rPr lang="en-US" dirty="0" err="1"/>
              <a:t>시스템</a:t>
            </a:r>
            <a:r>
              <a:rPr lang="en-US" dirty="0"/>
              <a:t> 설계와 검증 </a:t>
            </a:r>
            <a:r>
              <a:rPr lang="en-US" dirty="0" err="1"/>
              <a:t>책임은</a:t>
            </a:r>
            <a:r>
              <a:rPr lang="en-US" dirty="0"/>
              <a:t> </a:t>
            </a:r>
            <a:r>
              <a:rPr lang="en-US" dirty="0" err="1"/>
              <a:t>OEM이</a:t>
            </a:r>
            <a:r>
              <a:rPr lang="en-US" dirty="0"/>
              <a:t> 갖지만 실제 구현은 많은 공급사로 분산되기 때문에, 재사용 가능하고 교환 가능한 공통 아키텍처가 필요했습니다. </a:t>
            </a:r>
          </a:p>
          <a:p>
            <a:r>
              <a:rPr lang="ko-KR" altLang="en-US" dirty="0"/>
              <a:t>자료</a:t>
            </a:r>
            <a:r>
              <a:rPr lang="en-US" dirty="0" err="1"/>
              <a:t>에서는</a:t>
            </a:r>
            <a:r>
              <a:rPr lang="en-US" dirty="0"/>
              <a:t> 이러한 요구가 2003년 OEM과 공급사의 공동 파트너십으로 연결되며 AUTOSAR가 사실상의 업계 표준으로 자리 잡았다고 </a:t>
            </a:r>
            <a:r>
              <a:rPr lang="en-US" dirty="0" err="1"/>
              <a:t>설명합니다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OEM(Original Equipment Manufacturer) : </a:t>
            </a:r>
            <a:r>
              <a:rPr lang="ko-KR" altLang="en-US" dirty="0"/>
              <a:t>현대 자동차</a:t>
            </a:r>
            <a:r>
              <a:rPr lang="en-US" altLang="ko-KR" dirty="0"/>
              <a:t>, </a:t>
            </a:r>
            <a:r>
              <a:rPr lang="ko-KR" altLang="en-US" dirty="0"/>
              <a:t>벤츠</a:t>
            </a:r>
            <a:r>
              <a:rPr lang="en-US" altLang="ko-KR" dirty="0"/>
              <a:t> </a:t>
            </a:r>
            <a:r>
              <a:rPr lang="ko-KR" altLang="en-US" dirty="0"/>
              <a:t>등 </a:t>
            </a:r>
            <a:r>
              <a:rPr lang="ko-KR" altLang="en-US" dirty="0" err="1"/>
              <a:t>완성차</a:t>
            </a:r>
            <a:r>
              <a:rPr lang="ko-KR" altLang="en-US" dirty="0"/>
              <a:t> 제조사를 의미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AUTOSAR를 한 문장으로 정리하면 자동차 소프트웨어를 여러 조직이 함께 개발할 수 있도록 만드는 공통 아키텍처와 공통 </a:t>
            </a:r>
            <a:r>
              <a:rPr lang="en-US" dirty="0" err="1"/>
              <a:t>방법론입니다</a:t>
            </a:r>
            <a:r>
              <a:rPr lang="en-US" dirty="0"/>
              <a:t>.</a:t>
            </a:r>
          </a:p>
          <a:p>
            <a:r>
              <a:rPr lang="ko-KR" altLang="en-US" dirty="0"/>
              <a:t>자료</a:t>
            </a:r>
            <a:r>
              <a:rPr lang="en-US" dirty="0" err="1"/>
              <a:t>에서는</a:t>
            </a:r>
            <a:r>
              <a:rPr lang="en-US" dirty="0"/>
              <a:t> 네 가지 </a:t>
            </a:r>
            <a:r>
              <a:rPr lang="en-US" dirty="0" err="1"/>
              <a:t>목적을</a:t>
            </a:r>
            <a:r>
              <a:rPr lang="en-US" dirty="0"/>
              <a:t> </a:t>
            </a:r>
            <a:r>
              <a:rPr lang="ko-KR" altLang="en-US" dirty="0"/>
              <a:t>특히 </a:t>
            </a:r>
            <a:r>
              <a:rPr lang="en-US" dirty="0" err="1"/>
              <a:t>강조합니다</a:t>
            </a:r>
            <a:r>
              <a:rPr lang="en-US" dirty="0"/>
              <a:t>.</a:t>
            </a:r>
          </a:p>
          <a:p>
            <a:r>
              <a:rPr lang="en-US" dirty="0" err="1"/>
              <a:t>첫째</a:t>
            </a:r>
            <a:r>
              <a:rPr lang="en-US" dirty="0"/>
              <a:t>, 레퍼런스 ECU 아키텍처를 표준화해 재사용성을 높이고, </a:t>
            </a:r>
          </a:p>
          <a:p>
            <a:r>
              <a:rPr lang="en-US" dirty="0" err="1"/>
              <a:t>둘째</a:t>
            </a:r>
            <a:r>
              <a:rPr lang="en-US" dirty="0"/>
              <a:t>, 개발 방법론을 표준화해 협업을 쉽게 </a:t>
            </a:r>
            <a:r>
              <a:rPr lang="en-US" dirty="0" err="1"/>
              <a:t>하며</a:t>
            </a:r>
            <a:r>
              <a:rPr lang="en-US" dirty="0"/>
              <a:t>,</a:t>
            </a:r>
          </a:p>
          <a:p>
            <a:r>
              <a:rPr lang="en-US" dirty="0" err="1"/>
              <a:t>셋째</a:t>
            </a:r>
            <a:r>
              <a:rPr lang="en-US" dirty="0"/>
              <a:t>, 메타모델과 언어를 통일해 도구 간 교환을 가능하게 </a:t>
            </a:r>
            <a:r>
              <a:rPr lang="en-US" dirty="0" err="1"/>
              <a:t>하고</a:t>
            </a:r>
            <a:r>
              <a:rPr lang="en-US" dirty="0"/>
              <a:t>,</a:t>
            </a:r>
          </a:p>
          <a:p>
            <a:r>
              <a:rPr lang="en-US" dirty="0" err="1"/>
              <a:t>넷째</a:t>
            </a:r>
            <a:r>
              <a:rPr lang="en-US" dirty="0"/>
              <a:t>, 기본 소프트웨어를 표준화해 차별화 기능에 집중하도록 만드는 </a:t>
            </a:r>
            <a:r>
              <a:rPr lang="en-US" dirty="0" err="1"/>
              <a:t>것입니다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BSW (Basic software)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AUTOSAR 표준은 하나의 문서가 아니라 여러 층위의 규격 묶음입니다. 발표에서는 이해를 쉽게 하기 위해 네 가지로 </a:t>
            </a:r>
            <a:r>
              <a:rPr lang="en-US" dirty="0" err="1"/>
              <a:t>분류했습니다</a:t>
            </a:r>
            <a:r>
              <a:rPr lang="en-US" dirty="0"/>
              <a:t>.</a:t>
            </a:r>
          </a:p>
          <a:p>
            <a:r>
              <a:rPr lang="en-US" dirty="0" err="1"/>
              <a:t>Foundation은</a:t>
            </a:r>
            <a:r>
              <a:rPr lang="en-US" dirty="0"/>
              <a:t> </a:t>
            </a:r>
            <a:r>
              <a:rPr lang="en-US" dirty="0" err="1"/>
              <a:t>공통</a:t>
            </a:r>
            <a:r>
              <a:rPr lang="en-US" dirty="0"/>
              <a:t> </a:t>
            </a:r>
            <a:r>
              <a:rPr lang="en-US" dirty="0" err="1"/>
              <a:t>기반</a:t>
            </a:r>
            <a:r>
              <a:rPr lang="en-US" dirty="0"/>
              <a:t> (</a:t>
            </a:r>
            <a:r>
              <a:rPr lang="ko-KR" altLang="en-US" dirty="0"/>
              <a:t>전통적인 클래식</a:t>
            </a:r>
            <a:r>
              <a:rPr lang="en-US" altLang="ko-KR" dirty="0"/>
              <a:t>, </a:t>
            </a:r>
            <a:r>
              <a:rPr lang="ko-KR" altLang="en-US" dirty="0"/>
              <a:t>최신식 </a:t>
            </a:r>
            <a:r>
              <a:rPr lang="ko-KR" altLang="en-US" dirty="0" err="1"/>
              <a:t>어댑티브가</a:t>
            </a:r>
            <a:r>
              <a:rPr lang="ko-KR" altLang="en-US" dirty="0"/>
              <a:t> 원활하게 대화하고 협력하기위한 규칙 느낌</a:t>
            </a:r>
            <a:r>
              <a:rPr lang="en-US" dirty="0"/>
              <a:t>)</a:t>
            </a:r>
          </a:p>
          <a:p>
            <a:r>
              <a:rPr lang="en-US" dirty="0" err="1"/>
              <a:t>Classic과</a:t>
            </a:r>
            <a:r>
              <a:rPr lang="en-US" dirty="0"/>
              <a:t> Adaptive는 </a:t>
            </a:r>
            <a:r>
              <a:rPr lang="en-US" dirty="0" err="1"/>
              <a:t>실행</a:t>
            </a:r>
            <a:r>
              <a:rPr lang="en-US" dirty="0"/>
              <a:t> </a:t>
            </a:r>
            <a:r>
              <a:rPr lang="en-US" dirty="0" err="1"/>
              <a:t>플랫폼</a:t>
            </a:r>
            <a:r>
              <a:rPr lang="en-US" dirty="0"/>
              <a:t> </a:t>
            </a:r>
          </a:p>
          <a:p>
            <a:pPr marL="171450" indent="-171450">
              <a:buFontTx/>
              <a:buChar char="-"/>
            </a:pPr>
            <a:r>
              <a:rPr lang="en-US" dirty="0"/>
              <a:t>Classic : </a:t>
            </a:r>
            <a:r>
              <a:rPr lang="ko-KR" altLang="en-US" dirty="0"/>
              <a:t>엔진제어</a:t>
            </a:r>
            <a:r>
              <a:rPr lang="en-US" altLang="ko-KR" dirty="0"/>
              <a:t>, </a:t>
            </a:r>
            <a:r>
              <a:rPr lang="ko-KR" altLang="en-US" dirty="0"/>
              <a:t>브레이크 </a:t>
            </a:r>
            <a:r>
              <a:rPr lang="en-US" altLang="ko-KR" dirty="0"/>
              <a:t>,</a:t>
            </a:r>
            <a:r>
              <a:rPr lang="ko-KR" altLang="en-US" dirty="0"/>
              <a:t>에어백처럼 </a:t>
            </a:r>
            <a:r>
              <a:rPr lang="en-US" altLang="ko-KR" dirty="0"/>
              <a:t>ECU(</a:t>
            </a:r>
            <a:r>
              <a:rPr lang="ko-KR" altLang="en-US" dirty="0"/>
              <a:t>전통적인 자동차 부품</a:t>
            </a:r>
            <a:r>
              <a:rPr lang="en-US" altLang="ko-KR" dirty="0"/>
              <a:t>)</a:t>
            </a:r>
            <a:r>
              <a:rPr lang="ko-KR" altLang="en-US" dirty="0"/>
              <a:t>들을 위한 체계 </a:t>
            </a:r>
            <a:r>
              <a:rPr lang="en-US" altLang="ko-KR" dirty="0"/>
              <a:t>, C</a:t>
            </a:r>
            <a:r>
              <a:rPr lang="ko-KR" altLang="en-US" dirty="0"/>
              <a:t> 기반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dirty="0"/>
              <a:t>Adaptive : </a:t>
            </a:r>
            <a:r>
              <a:rPr lang="ko-KR" altLang="en-US" dirty="0"/>
              <a:t>자율주행이나 최첨단 방대한 데이터를 실시간으로 생각하고 </a:t>
            </a:r>
            <a:r>
              <a:rPr lang="ko-KR" altLang="en-US" dirty="0" err="1"/>
              <a:t>처리해야하는</a:t>
            </a:r>
            <a:r>
              <a:rPr lang="ko-KR" altLang="en-US" dirty="0"/>
              <a:t> 고성능 컴퓨터를 위해 등장한 체계</a:t>
            </a:r>
            <a:r>
              <a:rPr lang="en-US" altLang="ko-KR" dirty="0"/>
              <a:t>, C++</a:t>
            </a:r>
            <a:r>
              <a:rPr lang="ko-KR" altLang="en-US" dirty="0"/>
              <a:t>기반</a:t>
            </a:r>
            <a:r>
              <a:rPr lang="en-US" altLang="ko-KR" dirty="0"/>
              <a:t>.</a:t>
            </a:r>
            <a:endParaRPr lang="en-US" dirty="0"/>
          </a:p>
          <a:p>
            <a:r>
              <a:rPr lang="en-US" dirty="0" err="1"/>
              <a:t>Methodology와</a:t>
            </a:r>
            <a:r>
              <a:rPr lang="en-US" dirty="0"/>
              <a:t> Templates는 서로 다른 도구와 조직이 같은 산출물을 교환하도록 만드는 </a:t>
            </a:r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계층입니다</a:t>
            </a:r>
            <a:r>
              <a:rPr lang="en-US" dirty="0"/>
              <a:t>, </a:t>
            </a:r>
            <a:r>
              <a:rPr lang="ko-KR" altLang="en-US" dirty="0"/>
              <a:t>서로 호환되도록 만들어주는 </a:t>
            </a:r>
            <a:r>
              <a:rPr lang="en-US" altLang="ko-KR" dirty="0"/>
              <a:t>ARXML(</a:t>
            </a:r>
            <a:r>
              <a:rPr lang="ko-KR" altLang="en-US" dirty="0"/>
              <a:t>문서규격</a:t>
            </a:r>
            <a:r>
              <a:rPr lang="en-US" altLang="ko-KR" dirty="0"/>
              <a:t>) </a:t>
            </a:r>
            <a:r>
              <a:rPr lang="ko-KR" altLang="en-US" dirty="0"/>
              <a:t>등이 특징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Platform은 우리가 전통적인 ECU 소프트웨어라고 부르는 영역을 표준화한 구조입니다. </a:t>
            </a:r>
          </a:p>
          <a:p>
            <a:r>
              <a:rPr lang="en-US" dirty="0" err="1"/>
              <a:t>차량</a:t>
            </a:r>
            <a:r>
              <a:rPr lang="en-US" dirty="0"/>
              <a:t> 기능은 응용 소프트웨어에서 구현되고, RTE(</a:t>
            </a:r>
            <a:r>
              <a:rPr lang="en-US" dirty="0" err="1"/>
              <a:t>autosar</a:t>
            </a:r>
            <a:r>
              <a:rPr lang="ko-KR" altLang="en-US" dirty="0"/>
              <a:t> </a:t>
            </a:r>
            <a:r>
              <a:rPr lang="en-US" altLang="ko-KR" dirty="0"/>
              <a:t>runtime</a:t>
            </a:r>
            <a:r>
              <a:rPr lang="ko-KR" altLang="en-US" dirty="0"/>
              <a:t> </a:t>
            </a:r>
            <a:r>
              <a:rPr lang="en-US" altLang="ko-KR" dirty="0" err="1"/>
              <a:t>enviroment</a:t>
            </a:r>
            <a:r>
              <a:rPr lang="en-US" dirty="0"/>
              <a:t>)가 이를 기본 소프트웨어와 </a:t>
            </a:r>
            <a:r>
              <a:rPr lang="en-US" dirty="0" err="1"/>
              <a:t>연결합니다</a:t>
            </a:r>
            <a:r>
              <a:rPr lang="en-US" dirty="0"/>
              <a:t>.</a:t>
            </a:r>
          </a:p>
          <a:p>
            <a:r>
              <a:rPr lang="en-US" dirty="0"/>
              <a:t> 기본 소프트웨어에는 통신, 진단, 운영체제, ECU 추상화, 그리고 마이크로컨트롤러 추상화 계층이 포함되며, 안정적이고 반복 가능한 제어 기능에 매우 적합합니다.
</a:t>
            </a:r>
          </a:p>
          <a:p>
            <a:r>
              <a:rPr lang="en-US" dirty="0"/>
              <a:t>- </a:t>
            </a:r>
            <a:r>
              <a:rPr lang="ko-KR" altLang="en-US" dirty="0"/>
              <a:t>용어 설명 </a:t>
            </a:r>
            <a:r>
              <a:rPr lang="en-US" altLang="ko-KR" dirty="0"/>
              <a:t>–</a:t>
            </a:r>
            <a:endParaRPr lang="en-US" dirty="0"/>
          </a:p>
          <a:p>
            <a:r>
              <a:rPr lang="en-US" altLang="ko-KR" b="1" dirty="0"/>
              <a:t>RTE (Run-Time Environment) – ＂</a:t>
            </a:r>
            <a:r>
              <a:rPr lang="ko-KR" altLang="en-US" b="1" dirty="0"/>
              <a:t>소통을 돕는 통역사 겸 다리</a:t>
            </a:r>
            <a:r>
              <a:rPr lang="en-US" altLang="ko-KR" b="1" dirty="0"/>
              <a:t>＂</a:t>
            </a:r>
          </a:p>
          <a:p>
            <a:r>
              <a:rPr lang="ko-KR" altLang="en-US" b="1" dirty="0"/>
              <a:t>위치</a:t>
            </a:r>
            <a:r>
              <a:rPr lang="en-US" altLang="ko-KR" b="1" dirty="0"/>
              <a:t>:</a:t>
            </a:r>
            <a:r>
              <a:rPr lang="ko-KR" altLang="en-US" dirty="0"/>
              <a:t> 응용 소프트웨어와 기본 소프트웨어 사이의 회색 영역</a:t>
            </a:r>
          </a:p>
          <a:p>
            <a:r>
              <a:rPr lang="ko-KR" altLang="en-US" b="1" dirty="0"/>
              <a:t>역할</a:t>
            </a:r>
            <a:r>
              <a:rPr lang="en-US" altLang="ko-KR" b="1" dirty="0"/>
              <a:t>:</a:t>
            </a:r>
            <a:r>
              <a:rPr lang="ko-KR" altLang="en-US" dirty="0"/>
              <a:t> 윗동네</a:t>
            </a:r>
            <a:r>
              <a:rPr lang="en-US" altLang="ko-KR" dirty="0"/>
              <a:t>(</a:t>
            </a:r>
            <a:r>
              <a:rPr lang="ko-KR" altLang="en-US" dirty="0"/>
              <a:t>응용 </a:t>
            </a:r>
            <a:r>
              <a:rPr lang="en-US" altLang="ko-KR" dirty="0"/>
              <a:t>SW)</a:t>
            </a:r>
            <a:r>
              <a:rPr lang="ko-KR" altLang="en-US" dirty="0"/>
              <a:t>와 </a:t>
            </a:r>
            <a:r>
              <a:rPr lang="ko-KR" altLang="en-US" dirty="0" err="1"/>
              <a:t>아랫동네</a:t>
            </a:r>
            <a:r>
              <a:rPr lang="en-US" altLang="ko-KR" dirty="0"/>
              <a:t>(BSW)</a:t>
            </a:r>
            <a:r>
              <a:rPr lang="ko-KR" altLang="en-US" dirty="0"/>
              <a:t>를 연결해 주는 </a:t>
            </a:r>
            <a:r>
              <a:rPr lang="ko-KR" altLang="en-US" b="1" dirty="0"/>
              <a:t>아주 중요한 표준 인터페이스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응용 소프트웨어 개발자는 밑에 깔린 하드웨어나 통신망이 얼마나 복잡한지 알 필요가 없습니다</a:t>
            </a:r>
            <a:r>
              <a:rPr lang="en-US" altLang="ko-KR" dirty="0"/>
              <a:t>. </a:t>
            </a:r>
            <a:r>
              <a:rPr lang="ko-KR" altLang="en-US" dirty="0"/>
              <a:t>그저 </a:t>
            </a:r>
            <a:r>
              <a:rPr lang="en-US" altLang="ko-KR" dirty="0"/>
              <a:t>RTE</a:t>
            </a:r>
            <a:r>
              <a:rPr lang="ko-KR" altLang="en-US" dirty="0"/>
              <a:t>에게 </a:t>
            </a:r>
            <a:r>
              <a:rPr lang="en-US" altLang="ko-KR" dirty="0"/>
              <a:t>＂</a:t>
            </a:r>
            <a:r>
              <a:rPr lang="ko-KR" altLang="en-US" dirty="0"/>
              <a:t>브레이크 작동시켜</a:t>
            </a:r>
            <a:r>
              <a:rPr lang="en-US" altLang="ko-KR" dirty="0"/>
              <a:t>!＂</a:t>
            </a:r>
            <a:r>
              <a:rPr lang="ko-KR" altLang="en-US" dirty="0"/>
              <a:t>라고 표준화된 명령만 내리면</a:t>
            </a:r>
            <a:r>
              <a:rPr lang="en-US" altLang="ko-KR" dirty="0"/>
              <a:t>, RTE</a:t>
            </a:r>
            <a:r>
              <a:rPr lang="ko-KR" altLang="en-US" dirty="0"/>
              <a:t>가 알아서 밑으로 척척 전달해 줍니다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BSW (Basic Software, </a:t>
            </a:r>
            <a:r>
              <a:rPr lang="ko-KR" altLang="en-US" b="1" dirty="0"/>
              <a:t>기본 소프트웨어</a:t>
            </a:r>
            <a:r>
              <a:rPr lang="en-US" altLang="ko-KR" b="1" dirty="0"/>
              <a:t>) - "</a:t>
            </a:r>
            <a:r>
              <a:rPr lang="ko-KR" altLang="en-US" b="1" dirty="0"/>
              <a:t>든든한 운영체제와 기반 시설</a:t>
            </a:r>
            <a:r>
              <a:rPr lang="en-US" altLang="ko-KR" b="1" dirty="0"/>
              <a:t>"</a:t>
            </a:r>
          </a:p>
          <a:p>
            <a:r>
              <a:rPr lang="ko-KR" altLang="en-US" b="1" dirty="0"/>
              <a:t>위치</a:t>
            </a:r>
            <a:r>
              <a:rPr lang="en-US" altLang="ko-KR" b="1" dirty="0"/>
              <a:t>:</a:t>
            </a:r>
            <a:r>
              <a:rPr lang="ko-KR" altLang="en-US" dirty="0"/>
              <a:t> 밑에서 두 번째 층 </a:t>
            </a:r>
            <a:r>
              <a:rPr lang="en-US" altLang="ko-KR" dirty="0"/>
              <a:t>(</a:t>
            </a:r>
            <a:r>
              <a:rPr lang="ko-KR" altLang="en-US" dirty="0"/>
              <a:t>방금 전 우리가 그토록 칭찬했던 그 영역입니다</a:t>
            </a:r>
            <a:r>
              <a:rPr lang="en-US" altLang="ko-KR" dirty="0"/>
              <a:t>!)</a:t>
            </a:r>
          </a:p>
          <a:p>
            <a:r>
              <a:rPr lang="ko-KR" altLang="en-US" b="1" dirty="0"/>
              <a:t>역할</a:t>
            </a:r>
            <a:r>
              <a:rPr lang="en-US" altLang="ko-KR" b="1" dirty="0"/>
              <a:t>:</a:t>
            </a:r>
            <a:r>
              <a:rPr lang="ko-KR" altLang="en-US" dirty="0"/>
              <a:t> 운영체제</a:t>
            </a:r>
            <a:r>
              <a:rPr lang="en-US" altLang="ko-KR" dirty="0"/>
              <a:t>(OS), </a:t>
            </a:r>
            <a:r>
              <a:rPr lang="ko-KR" altLang="en-US" dirty="0"/>
              <a:t>통신</a:t>
            </a:r>
            <a:r>
              <a:rPr lang="en-US" altLang="ko-KR" dirty="0"/>
              <a:t>(CAN/LIN), </a:t>
            </a:r>
            <a:r>
              <a:rPr lang="ko-KR" altLang="en-US" dirty="0"/>
              <a:t>진단</a:t>
            </a:r>
            <a:r>
              <a:rPr lang="en-US" altLang="ko-KR" dirty="0"/>
              <a:t>, </a:t>
            </a:r>
            <a:r>
              <a:rPr lang="ko-KR" altLang="en-US" dirty="0"/>
              <a:t>메모리 등 자동차가 움직이는 데 필요한 모든 기초 작업을 묵묵히 도맡아 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MCAL (</a:t>
            </a:r>
            <a:r>
              <a:rPr lang="ko-KR" altLang="en-US" b="1" dirty="0" err="1"/>
              <a:t>마이크로컨트롤러</a:t>
            </a:r>
            <a:r>
              <a:rPr lang="ko-KR" altLang="en-US" b="1" dirty="0"/>
              <a:t> 추상화 계층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BSW</a:t>
            </a:r>
            <a:r>
              <a:rPr lang="ko-KR" altLang="en-US" dirty="0"/>
              <a:t>의 가장 아랫부분에 위치하며</a:t>
            </a:r>
            <a:r>
              <a:rPr lang="en-US" altLang="ko-KR" dirty="0"/>
              <a:t>, </a:t>
            </a:r>
            <a:r>
              <a:rPr lang="ko-KR" altLang="en-US" dirty="0"/>
              <a:t>각기 다른 기계 장치</a:t>
            </a:r>
            <a:r>
              <a:rPr lang="en-US" altLang="ko-KR" dirty="0"/>
              <a:t>(</a:t>
            </a:r>
            <a:r>
              <a:rPr lang="ko-KR" altLang="en-US" dirty="0"/>
              <a:t>하드웨어</a:t>
            </a:r>
            <a:r>
              <a:rPr lang="en-US" altLang="ko-KR" dirty="0"/>
              <a:t>)</a:t>
            </a:r>
            <a:r>
              <a:rPr lang="ko-KR" altLang="en-US" dirty="0"/>
              <a:t>의 복잡한 특성을 가려주는 역할을 합니다</a:t>
            </a:r>
            <a:r>
              <a:rPr lang="en-US" altLang="ko-KR" dirty="0"/>
              <a:t>. </a:t>
            </a:r>
            <a:r>
              <a:rPr lang="ko-KR" altLang="en-US" dirty="0"/>
              <a:t>덕분에 </a:t>
            </a:r>
            <a:r>
              <a:rPr lang="ko-KR" altLang="en-US" dirty="0" err="1"/>
              <a:t>윗층의</a:t>
            </a:r>
            <a:r>
              <a:rPr lang="ko-KR" altLang="en-US" dirty="0"/>
              <a:t> 소프트웨어들은 하드웨어가 바뀌어도 코드를 뜯어고칠 필요 없이 그대로 재사용할 수 있습니다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Platform 개발은 역할이 명확히 나뉜 공급망 구조를 전제로 합니다. OEM은 시스템을 설계하고, 1차 공급업체는 ECU와 SWC 통합을 담당하며, 2차 공급업체는 기본 소프트웨어를, 3차 공급업체는 하드웨어와 드라이버를 맡습니다. 중요한 점은 이 분업이 단절이 아니라 ARXML 기반 교환 모델로 연결된다는 것입니다.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Adaptive Platform은 2016년 이후 자율주행과 커넥티드 기능을 지원하기 위해 추가된 플랫폼입니다. 핵심 메시지는 Classic을 없애는 것이 아니라 공존한다는 점입니다. Adaptive는 서비스 지향 통신, 런타임 구성, POSIX 호환 운영체제, C++ 응용, Ethernet 기반 고대역폭 통신, </a:t>
            </a:r>
            <a:r>
              <a:rPr lang="en-US" dirty="0" err="1"/>
              <a:t>그리고</a:t>
            </a:r>
            <a:r>
              <a:rPr lang="en-US" dirty="0"/>
              <a:t> OTA(</a:t>
            </a:r>
            <a:r>
              <a:rPr lang="ko-KR" altLang="en-US" dirty="0"/>
              <a:t>무선 소프트웨어 업데이트</a:t>
            </a:r>
            <a:r>
              <a:rPr lang="en-US" dirty="0"/>
              <a:t>) 업데이트와 같은 요구를 충족하도록 설계되었습니다.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Adaptive 개발 방법론은 Classic보다 훨씬 서비스 중심입니다. 먼저 서비스를 정의하고, 이 인터페이스를 바탕으로 실행 코드와 다양한 Manifest를 준비한 뒤, 머신에 배포합니다. 실행 시에는 서비스 제공자가 등록하고 소비자가 탐색해 호출하는 방식이 일반적이며, 이 과정에서 보안·진단·로그·OTA 같은 플랫폼 기능이 함께 작동합니다.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세 가지로 정리하겠습니다. Classic은 안정적인 ECU 제어에, Adaptive는 고성능·연결성 기능에 강합니다. 그리고 AUTOSAR를 제대로 이해하려면 두 플랫폼 자체보다도, 이 둘을 연결하는 공통 모델과 개발 방법론까지 함께 봐야 합니다. 실제 차량은 하나의 플랫폼만으로 구성되기보다, 여러 ECU가 공존하는 혼합 아키텍처로 구현됩니다.</a:t>
            </a:r>
            <a:r>
              <a:rPr lang="en-US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AE0"/>
          </a:solidFill>
          <a:ln w="12700">
            <a:solidFill>
              <a:srgbClr val="1F7A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698480" y="256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A76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AUTOSAR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1B2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1B2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95160" y="0"/>
            <a:ext cx="5193792" cy="6858000"/>
          </a:xfrm>
          <a:prstGeom prst="rect">
            <a:avLst/>
          </a:prstGeom>
          <a:solidFill>
            <a:srgbClr val="102A42"/>
          </a:solidFill>
          <a:ln w="12700">
            <a:solidFill>
              <a:srgbClr val="102A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315200" y="502920"/>
            <a:ext cx="4297680" cy="5852160"/>
          </a:xfrm>
          <a:prstGeom prst="rect">
            <a:avLst/>
          </a:prstGeom>
          <a:solidFill>
            <a:srgbClr val="F6FAFF"/>
          </a:solidFill>
          <a:ln w="12700">
            <a:solidFill>
              <a:srgbClr val="F6FAFF"/>
            </a:solidFill>
            <a:prstDash val="solid"/>
          </a:ln>
          <a:effectLst>
            <a:outerShdw blurRad="25400" dist="1397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AUTOSAR </a:t>
            </a:r>
            <a:r>
              <a:rPr lang="en-US" sz="2500" b="1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이해와</a:t>
            </a:r>
            <a:r>
              <a:rPr lang="en-US" sz="2500" dirty="0"/>
              <a:t> </a:t>
            </a:r>
            <a:r>
              <a:rPr lang="en-US" sz="2500" b="1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플랫폼</a:t>
            </a:r>
            <a:r>
              <a:rPr lang="en-US" sz="2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구조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04672" y="26974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7E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배경 · 개념 · 표준 분류 · Classic / Adaptive Platform · 개발 방법론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672" y="5440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8B0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2025811065 IT</a:t>
            </a:r>
            <a:r>
              <a:rPr lang="ko-KR" altLang="en-US" sz="1150" dirty="0">
                <a:solidFill>
                  <a:srgbClr val="98B0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반도체융합공학과 이희준</a:t>
            </a:r>
            <a:endParaRPr lang="en-US" sz="1150" dirty="0"/>
          </a:p>
        </p:txBody>
      </p:sp>
      <p:pic>
        <p:nvPicPr>
          <p:cNvPr id="7" name="Image 0" descr="/mnt/data/adaptive_ca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902409"/>
            <a:ext cx="3794760" cy="25045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26680" y="54132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Classic + Adaptive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공존 아키텍처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04672" y="5074920"/>
            <a:ext cx="1508760" cy="0"/>
          </a:xfrm>
          <a:prstGeom prst="line">
            <a:avLst/>
          </a:prstGeom>
          <a:noFill/>
          <a:ln w="12700">
            <a:solidFill>
              <a:srgbClr val="1F7A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3C6B85C-EB47-5916-6C60-E0578CCAF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52" y="6302829"/>
            <a:ext cx="796847" cy="422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AUTOSAR 배경 및 소개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자동차 기능의 중심이 기계에서 소프트웨어로 이동하면서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표준화가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6D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" y="1389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필요했는가?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737360"/>
            <a:ext cx="4983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차량 기능이 전기/전자/소프트웨어 중심으로 빠르게 이동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OEM과 다수 공급사 사이에 재사용 가능한 공통 구조 필요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완성차 수준의 설계·검증 책임은 OEM에 있지만 구현은 분산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결과적으로 아키텍처와 개발 프로세스의 표준화가 필수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8096" y="4828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2003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965960" y="49377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OEM과 공급사가 공동으로 표준화 착수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4645152"/>
            <a:ext cx="47548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50749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F2"/>
            </a:solidFill>
            <a:prstDash val="solid"/>
          </a:ln>
          <a:effectLst>
            <a:outerShdw blurRad="19050" dist="1016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/mnt/data/adaptive_ca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169" y="1783080"/>
            <a:ext cx="4364182" cy="2880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20840" y="47731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미래차가 요구한 변화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20840" y="501091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연결성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자율주행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OTA 업데이트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복잡한 공급망 협업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1B2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6D6CFE1-ADC9-8FAE-B3C8-C440C8F96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52" y="6302829"/>
            <a:ext cx="796847" cy="422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AUTOSAR 개념과 목적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AUTOSAR는 자동차 소프트웨어를 위한 공통 아키텍처, 공통 방법론, 공통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교환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6D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49808" y="1417320"/>
            <a:ext cx="10698480" cy="8229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664208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“기능을 표준 인터페이스로 분리하고, 구현은 각 ECU와 공급망이 재사용 가능하도록 만든다”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67004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651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레퍼런스 ECU 아키텍처 표준화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2651760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동일한 구조를 기반으로 응용 SW의 이식성과 재사용성을 높임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8680" y="3108960"/>
            <a:ext cx="10241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35387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37360" y="3520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 방법론 표준화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3520440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OEM과 공급사가 같은 개발 절차와 역할 분담으로 협업 가능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8680" y="3977640"/>
            <a:ext cx="10241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" y="44074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37360" y="4389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언어/메타모델 표준화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83480" y="4389120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 도구와 코드 생성 도구 사이의 교환을 ARXML 등으로 통일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68680" y="4846320"/>
            <a:ext cx="10241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52760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37360" y="5257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BSW 아키텍처·기능 표준화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5257800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소프트웨어를 공통화해 OEM은 차별화 기능 구현에 집중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183880" y="5650992"/>
            <a:ext cx="2926080" cy="502920"/>
          </a:xfrm>
          <a:prstGeom prst="rect">
            <a:avLst/>
          </a:prstGeom>
          <a:solidFill>
            <a:srgbClr val="EAF8F7"/>
          </a:solidFill>
          <a:ln w="12700">
            <a:solidFill>
              <a:srgbClr val="EAF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731932" y="5806440"/>
            <a:ext cx="4728136" cy="91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6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가치: 재사용성 · 이식성 · 협업성 · 복잡도 관리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1B2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6B4CBE5-0BE3-B88B-E9B5-ABA6FBC33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2" y="6302829"/>
            <a:ext cx="796847" cy="4225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AUTOSAR 표준의 분류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6D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41248" y="1481328"/>
            <a:ext cx="10515600" cy="8412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78992" y="16824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Foundation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703320" y="1645920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프로토콜과 기반 규격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SOME/IP, E2E, 공통 요구사항, 로깅/진단/보안의 공통 토대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2578608"/>
            <a:ext cx="10515600" cy="841248"/>
          </a:xfrm>
          <a:prstGeom prst="rect">
            <a:avLst/>
          </a:prstGeom>
          <a:solidFill>
            <a:srgbClr val="EAF8F7"/>
          </a:solidFill>
          <a:ln w="12700">
            <a:solidFill>
              <a:srgbClr val="EAF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78992" y="27797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Classic Platform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03320" y="2743200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ECU 중심 제어 플랫폼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RTE + BSW + MCAL, 신호 기반 통신, 정적 구성, C 기반 개발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" y="3675888"/>
            <a:ext cx="10515600" cy="841248"/>
          </a:xfrm>
          <a:prstGeom prst="rect">
            <a:avLst/>
          </a:prstGeom>
          <a:solidFill>
            <a:srgbClr val="FFF5E8"/>
          </a:solidFill>
          <a:ln w="12700">
            <a:solidFill>
              <a:srgbClr val="FFF5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78992" y="38770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Adaptive Platform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703320" y="3840480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고성능 컴퓨팅 플랫폼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지향, 런타임 바인딩, C++ / POSIX, Ethernet 중심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48" y="4773168"/>
            <a:ext cx="10515600" cy="84124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78992" y="49743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Methodology &amp; Templates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703320" y="4937760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ARXML 기반 교환 모델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/ SWC / ECUC / Manifest 모델과 개발 산출물 정의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5998464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“플랫폼 + 공통기반 + 템플릿 + 방법론”의 묶음이 AUTOSAR </a:t>
            </a:r>
            <a:r>
              <a:rPr lang="en-US" sz="1350" i="1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표준</a:t>
            </a:r>
            <a:r>
              <a:rPr lang="en-US" sz="1350" i="1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i="1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체계</a:t>
            </a:r>
            <a:r>
              <a:rPr lang="en-US" sz="1350" i="1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1B2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D0CB999-C2B2-A5E1-E841-3624FA523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2" y="6302829"/>
            <a:ext cx="796847" cy="422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Classic Platform 개요 및 구조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정적이고 예측 가능한 ECU 제어에 최적화된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레이어드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아키텍처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6D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04672" y="1554480"/>
            <a:ext cx="4526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응용 소프트웨어(Application SW)가 차량 기능을 구현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RTE가 SWC와 기본 소프트웨어 사이를 표준 인터페이스로 연결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BSW는 통신, 진단, 메모리, OS, ECU 추상화, MCAL을 담당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MCU 기반 제어, 정적 스케줄링, 높은 결정성이 필요한 기능에 적합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15000" y="1444752"/>
            <a:ext cx="56692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6510" dist="1016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mnt/data/classic_stack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757172"/>
            <a:ext cx="5303520" cy="3535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89320" y="548640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E8A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Classic layered architecture (</a:t>
            </a:r>
            <a:r>
              <a:rPr lang="en-US" sz="950" i="1" dirty="0" err="1">
                <a:solidFill>
                  <a:srgbClr val="7E8A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그림</a:t>
            </a:r>
            <a:r>
              <a:rPr lang="en-US" sz="950" i="1" dirty="0">
                <a:solidFill>
                  <a:srgbClr val="7E8A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5.1)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4672" y="5074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키워드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4672" y="534009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RTE · BSW · MCAL · CAN/LIN/FlexRay · ECU 중심 설계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1B2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2E3D71C-82B7-C2E5-DD1D-F4C69164B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52" y="6302829"/>
            <a:ext cx="796847" cy="4225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Classic Platform 개발 방법론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역할이 분리된 공급망에서 공통 산출물과 공통 교환 모델로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개발을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6D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04672" y="1481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전형적 역할 분담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78308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OEM: 논리적/물리적 시스템 설계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1차 공급업체: ECU 설계 및 SWC 통합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2차 공급업체: BSW 구현과 설정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3차 공급업체: 하드웨어, 드라이버, 컴파일러/링커 제공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4672" y="4343400"/>
            <a:ext cx="4434840" cy="100584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24128" y="462686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산출물 흐름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design → SWC 설계 → ECU 구성 → BSW 생성 → Build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577840" y="1417320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6510" dist="1016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mnt/data/classic_proces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495" y="1627632"/>
            <a:ext cx="3849130" cy="4069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0" y="57424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E8A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Classic 개발 프로세스와 공급망 </a:t>
            </a:r>
            <a:r>
              <a:rPr lang="en-US" sz="950" i="1" dirty="0" err="1">
                <a:solidFill>
                  <a:srgbClr val="7E8A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</a:t>
            </a:r>
            <a:r>
              <a:rPr lang="en-US" sz="950" i="1" dirty="0">
                <a:solidFill>
                  <a:srgbClr val="7E8A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(</a:t>
            </a:r>
            <a:r>
              <a:rPr lang="en-US" sz="950" i="1" dirty="0" err="1">
                <a:solidFill>
                  <a:srgbClr val="7E8A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그림</a:t>
            </a:r>
            <a:r>
              <a:rPr lang="en-US" sz="950" i="1" dirty="0">
                <a:solidFill>
                  <a:srgbClr val="7E8A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5.2)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4672" y="56692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ARXML/메타모델이 툴과 조직 간 산출물 </a:t>
            </a:r>
            <a:r>
              <a:rPr lang="en-US" sz="1250" i="1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교환의</a:t>
            </a:r>
            <a:r>
              <a:rPr lang="en-US" sz="1250" i="1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250" i="1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</a:t>
            </a:r>
            <a:r>
              <a:rPr lang="en-US" sz="1250" i="1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1B2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81BAF02-72C2-9247-905E-B9204785E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52" y="6302829"/>
            <a:ext cx="796847" cy="422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Adaptive Platform 개요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자율주행, 연결성, OTA와 같은 고성능·고유연성 기능을 위해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추가된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플랫폼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6D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49808" y="1444752"/>
            <a:ext cx="52578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6510" dist="1016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mnt/data/adaptive_ca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7555"/>
            <a:ext cx="4937760" cy="32589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55955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E8A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Adaptive가 Classic / Non-AUTOSAR ECU와 공존하는 차량 예시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19088" y="1554480"/>
            <a:ext cx="4754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완전히 대체하는 개념이 아니라 Classic과 공존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서비스 지향 통신과 런타임 바인딩 지원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OTA, 보안 통신, 고대역폭 Ethernet, 멀티코어/가속기 활용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POSIX 호환 OS 위에서 C++ 기반 응용 실행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400800" y="4069080"/>
            <a:ext cx="4892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mnt/data/adaptive_logica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577" y="4206240"/>
            <a:ext cx="2123342" cy="1051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534924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E8A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ARA와 Functional Cluster 중심의 논리 아키텍처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1B2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F06AB4D-ACB7-055F-B7B3-D07C11F55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52" y="6302829"/>
            <a:ext cx="796847" cy="422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7. Adaptive 개발 방식과 Classic 대비 차이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정의와 매니페스트를 중심으로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설계·배포·실행을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6D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04672" y="1463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Adaptive 개발 흐름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73736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서비스 정의 → Interface Description → Machine / Service Instance / Execution Manifest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제공자는 서비스를 register, 소비자는 find 후 call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배포 시 실행 코드와 매니페스트를 함께 설치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OTA, 로깅/트레이스, 보안, 진단 같은 기능 클러스터를 활용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4672" y="4462272"/>
            <a:ext cx="4736592" cy="1170432"/>
          </a:xfrm>
          <a:prstGeom prst="rect">
            <a:avLst/>
          </a:prstGeom>
          <a:solidFill>
            <a:srgbClr val="FFF5E8"/>
          </a:solidFill>
          <a:ln w="12700">
            <a:solidFill>
              <a:srgbClr val="FFF5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24128" y="4681728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8A5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Classic 대비 핵심 변화</a:t>
            </a:r>
            <a:endParaRPr lang="en-US" sz="1520" dirty="0"/>
          </a:p>
          <a:p>
            <a:pPr marL="0" indent="0">
              <a:buNone/>
            </a:pPr>
            <a:r>
              <a:rPr lang="en-US" sz="1520" b="1" dirty="0">
                <a:solidFill>
                  <a:srgbClr val="8A5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신호 기반 → 서비스 지향 / 정적 바인딩 → 런타임 바인딩 / C + AUTOSAR OS → C++ + POSIX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5989320" y="1417320"/>
            <a:ext cx="23317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mnt/data/service_registry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713" y="1572768"/>
            <a:ext cx="1541790" cy="1481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44768" y="30906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E8A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Service registry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613648" y="1417320"/>
            <a:ext cx="2788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mnt/data/adaptive_metho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808" y="2476908"/>
            <a:ext cx="2514600" cy="19590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78240" y="53583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E8A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Adaptive 방법론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1B2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F7266AE-0DA6-8267-91BD-0DA44977D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52" y="6302829"/>
            <a:ext cx="796847" cy="422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8. </a:t>
            </a:r>
            <a:r>
              <a:rPr lang="en-US" sz="2800" b="1" dirty="0" err="1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</a:t>
            </a:r>
            <a:r>
              <a:rPr lang="ko-KR" altLang="en-US" sz="28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및 결론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실무에서는 Classic과 Adaptive를 분리해서 보기보다, 공존하는 시스템으로 이해하는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것이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50" dirty="0" err="1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중요</a:t>
            </a:r>
            <a:r>
              <a:rPr lang="en-US" sz="11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C6D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Takeaway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Classic은 제어 안정성·실시간성·대량 ECU </a:t>
            </a:r>
            <a:r>
              <a:rPr lang="en-US" sz="2000" b="1" dirty="0" err="1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확산에</a:t>
            </a:r>
            <a:r>
              <a:rPr lang="en-US" sz="20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강</a:t>
            </a:r>
            <a:r>
              <a:rPr lang="ko-KR" altLang="en-US" sz="20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</a:t>
            </a:r>
            <a:r>
              <a:rPr lang="en-US" sz="20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21214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엔진/브레이크/차체 제어처럼 정적으로 검증 가능한 기능에 적합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A7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Takeaway 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6483096" cy="23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Adaptive는 고성능 </a:t>
            </a:r>
            <a:r>
              <a:rPr lang="en-US" sz="2000" b="1" dirty="0" err="1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컴퓨팅·연결성·지속적</a:t>
            </a:r>
            <a:r>
              <a:rPr lang="en-US" sz="20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b="1" dirty="0" err="1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업데이트에</a:t>
            </a:r>
            <a:r>
              <a:rPr lang="en-US" sz="20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20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</a:t>
            </a:r>
            <a:r>
              <a:rPr lang="en-US" sz="20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3383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자율주행, 클라우드 연동, 서비스 배포와 OTA 중심 기능에 적합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9B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Takeaway 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2793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AUTOSAR의 본질은 “플랫폼 + 방법론 + 공통 </a:t>
            </a:r>
            <a:r>
              <a:rPr lang="en-US" sz="2000" b="1" dirty="0" err="1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</a:t>
            </a:r>
            <a:r>
              <a:rPr lang="en-US" sz="2000" b="1" dirty="0">
                <a:solidFill>
                  <a:srgbClr val="0B1F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”.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" y="46451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D6A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결국 성공 포인트는 공통 인터페이스와 산출물 교환 체계를 설계하는 것입니다.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498080" y="1417320"/>
            <a:ext cx="3913632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6510" dist="1016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/mnt/data/adaptive_ca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1878635"/>
            <a:ext cx="3520440" cy="232349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818120" y="4526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혼합 아키텍처 관점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818120" y="4800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Classic ECU + Adaptive ECU 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233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Non-AUTOSAR 컴포넌트가 함께 동작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1248" y="5897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Q&amp;A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1B2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1D15308-4048-2E1D-B6F3-697CE5491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52" y="6302829"/>
            <a:ext cx="796847" cy="422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1515</Words>
  <Application>Microsoft Office PowerPoint</Application>
  <PresentationFormat>와이드스크린</PresentationFormat>
  <Paragraphs>156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AUTOSAR 이해와 플랫폼 구조</dc:title>
  <dc:subject>AUTOSAR 발표 자료</dc:subject>
  <dc:creator>OpenAI</dc:creator>
  <cp:lastModifiedBy>이희준(2025811065)</cp:lastModifiedBy>
  <cp:revision>45</cp:revision>
  <dcterms:created xsi:type="dcterms:W3CDTF">2026-04-14T07:55:49Z</dcterms:created>
  <dcterms:modified xsi:type="dcterms:W3CDTF">2026-04-14T09:57:12Z</dcterms:modified>
</cp:coreProperties>
</file>