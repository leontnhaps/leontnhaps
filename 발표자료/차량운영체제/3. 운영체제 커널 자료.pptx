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sldIdLst>
    <p:sldId id="279" r:id="rId2"/>
    <p:sldId id="333" r:id="rId3"/>
    <p:sldId id="335" r:id="rId4"/>
    <p:sldId id="336" r:id="rId5"/>
    <p:sldId id="337" r:id="rId6"/>
    <p:sldId id="338" r:id="rId7"/>
    <p:sldId id="340" r:id="rId8"/>
    <p:sldId id="341" r:id="rId9"/>
    <p:sldId id="30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및 목차" id="{FDA37AE7-6F61-4738-B58E-53D16F24D74C}">
          <p14:sldIdLst>
            <p14:sldId id="279"/>
          </p14:sldIdLst>
        </p14:section>
        <p14:section name="본문" id="{975B14FF-5963-4FA2-99F3-05B9EABDC627}">
          <p14:sldIdLst>
            <p14:sldId id="333"/>
            <p14:sldId id="335"/>
            <p14:sldId id="336"/>
            <p14:sldId id="337"/>
            <p14:sldId id="338"/>
            <p14:sldId id="340"/>
            <p14:sldId id="341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DCF8"/>
    <a:srgbClr val="5894CF"/>
    <a:srgbClr val="EFF3F8"/>
    <a:srgbClr val="CFD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8" autoAdjust="0"/>
    <p:restoredTop sz="77623" autoAdjust="0"/>
  </p:normalViewPr>
  <p:slideViewPr>
    <p:cSldViewPr snapToGrid="0">
      <p:cViewPr varScale="1">
        <p:scale>
          <a:sx n="68" d="100"/>
          <a:sy n="68" d="100"/>
        </p:scale>
        <p:origin x="1014" y="2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7EF4DEA1-4F95-401F-9C1D-7F013E6FE5F6}" type="datetime1">
              <a:rPr lang="ko-KR" altLang="en-US"/>
              <a:pPr lvl="0"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6A3BD86-B9C4-48BB-B1BA-5BDB10AF190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00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표지입니다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768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BCCB-9410-5CB0-FEEE-8ACAC65C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9D28BF-E634-3D2B-715F-AD1F76EE6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C293C-4521-BB70-5CE6-8B40EE3F8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97327-9913-19E1-C70D-94DE4AFDD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669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C849-F57D-6042-EB63-3142881A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ED0328-6D32-B8BE-FF8D-A54AFF789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D11130-60D1-9800-BEB6-445C7EE68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E0353-C457-8832-E0BF-6AECD07C3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295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1102-3E62-6926-39D8-A7B09877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BCBB28-A9CF-C51B-A26C-50C9D574C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B80CE9-E047-2E0A-17EA-624AEFD79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F56B8A-69A1-812C-47A9-60134C124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506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3F8C8-4F7B-A549-18E6-C459C178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874E17-3B33-12C8-F8CC-2133F8EB7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0CB791-16DC-CEB0-3566-C5EDE2F0F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5E6F3-0EC0-7CA8-98EB-433AC9CC8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293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D1D7-AABF-0911-B42C-1FE3C196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F41243-46B4-0A73-A243-6A3BF7832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00EFD-03F2-799F-F7CC-3813E8823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6ADCF3-77B8-942C-705F-00C744537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31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19CA-1B16-ACD1-79AE-093CA383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2A9121-97A6-55A5-2509-33DA37689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EC7789-4301-7D1D-4A63-6FFD71C37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D54EFA-6A48-4046-F65A-35A6439CE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118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6F30-50DF-BF5B-39F4-DFEF99A6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829008-B598-CE51-02B9-86B868382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2EA34-2C58-406B-5C2B-A21C061FB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220101-DE5C-8918-46C7-6DD84174E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992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485D-E9FE-857B-EC58-5E9007CB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6A9DB-FA96-AAC9-D608-30D1596DE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A60FC-0C69-A098-0239-8ADC5A77B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163B7-3C27-6E75-1A70-C9B8E462D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3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2956B-0C3C-852C-B055-5CB40CF2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754C56-0957-D194-C5B0-07C7E103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F57B55-CDF9-992F-5783-0FF1F0B6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94891-C176-45C6-952F-6646066BB07A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A30A4-C742-50C8-6379-D28E538A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58673-A6DC-13D7-43FE-D07CFEF7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694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1F0C6-987E-1AC2-64B4-1AF6D371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68E92-D2C2-F52D-B389-C1FEB110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59ABB-B485-D618-9EE9-2BC230D3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7154-35AB-4BEF-ABD2-72B454421146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0190-262E-2FD8-D981-3A8F1F1D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0314E-3927-BEDC-4B85-CA16468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2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D1540-916B-07D3-C5AD-FB2255A2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79CCB-C75D-6A71-7763-0373C453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F948A-8D46-AC36-3798-C7867AF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7E407-6B96-4B20-A56B-622FAA2C9F1E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B05C6-0C2E-04C9-0174-EDECFBA4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6BC61-3008-89A8-FBC5-FDAF45F4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13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AEDAA-618F-A914-0695-D2462BAB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B0354-ADD3-8D1D-4EC6-61EE1B4AC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4AFE95-07F0-600C-1583-7E0A3E47F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6415E8-CA46-1B9B-76BE-DB60D312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3554E-5C37-432E-B5B0-5F06A10FB84D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15974F-127F-D9AB-D668-5FE4337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50977-824B-4983-B3BA-A6FC671E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89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96F08-003F-BF29-7BB0-A0494445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57A8E-F1EA-34A6-E3CB-5FFEFDA1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4F483E-9C2C-2094-3BB3-8125BC2F1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06055-2830-8B4B-3413-5989B4F60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D53929-2676-8200-7230-282F3D0C9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4F5E7B-19FC-8175-C727-DF96B1FD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B1258-8CD3-4C4C-96C6-E0292624AFA2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214392-34B2-A6F2-3837-ADAD09F7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2D480-1EE2-B60F-C95A-8746614E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08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EEBC5-F9E3-5640-21CE-59A60C0D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27D95B-6352-EA92-6B53-5D072EEE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ECE2-7E19-4C0D-9ADC-E9A8A6CBE1BB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E7AC26-5A62-C72A-C7D6-B059660A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4367A1-F668-0598-E448-87387E75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F2DF15-AB9A-D820-AAEA-CBE25BE6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15E5-75A1-418B-B4F5-C9812F71A2DB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01B0F7-0F98-58AD-0342-CFE93184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C5E35-2816-4483-AB2E-8E164C5F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82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3CC7-64F7-D429-016C-99460E6C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2C9F9-4019-0DCA-3FFB-A3CA8BCDC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EE260F-5013-2151-73C6-4F27BE997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BFEC57-9F8A-F534-E927-6760AFDD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838-9398-4F49-8728-9E6AB80DF08A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40A817-99EC-1D59-75F4-809A7507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2DF34A-476F-BF96-7311-6B4D8261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6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C8B1A-417D-ADA8-1BEE-9BD38DEB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BF7120-5B97-82CC-155D-8213482E7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ACCB2D-97AB-5C53-6607-6731FE1F4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153058-A4DF-1B66-6EB6-D8C8BEA0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F419-0948-4C2B-97E0-7038E3D15E60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4040E-C70B-BA68-2DB4-ABF9C53E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48A0C-86E2-6D41-222B-572A197E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4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9D14E-E543-F593-6CC1-BD6CC355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0484E-5422-78B8-E877-0475FD5C6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E8AF8-25D2-166A-D326-A86E382A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84535-2B26-40AE-98B0-725BE7CC6FA8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CE361F-2780-AD8A-029E-27E33A36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BA2F8-9DB4-FEDA-DD9F-9F0812A6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95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7A2B6-E224-0B8A-BDF1-59299E9F6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BF8073-A0B6-5B24-E943-A57301429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6A38AC-9DA6-7551-F085-B8824922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1038-2E04-4EFF-AFD3-D1E32DD6BF0A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15644-2DCD-2C0A-3480-77315DCF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B2EDC-778D-2E2A-6876-92D46760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D7C59B-BBE3-61EA-2905-089A995D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13C405-9A39-3549-2FC6-FBEC6ED2D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BDCCC-6AB8-9DCE-19E0-776B6902A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B48B8-B1C4-4561-8293-340E4E89454A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8D623D-FDA4-EDC8-2100-0EC35EE6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F22241-4D0D-9BC7-9FBF-EC5586BFC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79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1974375-594D-C885-604A-829A29D597A8}"/>
              </a:ext>
            </a:extLst>
          </p:cNvPr>
          <p:cNvSpPr/>
          <p:nvPr/>
        </p:nvSpPr>
        <p:spPr>
          <a:xfrm>
            <a:off x="-9144" y="1316736"/>
            <a:ext cx="905256" cy="2559622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C987450-0F83-E579-3FA6-46E1D8B169AD}"/>
              </a:ext>
            </a:extLst>
          </p:cNvPr>
          <p:cNvCxnSpPr>
            <a:cxnSpLocks/>
          </p:cNvCxnSpPr>
          <p:nvPr/>
        </p:nvCxnSpPr>
        <p:spPr>
          <a:xfrm>
            <a:off x="1395984" y="1316736"/>
            <a:ext cx="8681466" cy="0"/>
          </a:xfrm>
          <a:prstGeom prst="line">
            <a:avLst/>
          </a:prstGeom>
          <a:ln>
            <a:solidFill>
              <a:srgbClr val="589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258" y="1806599"/>
            <a:ext cx="118437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800" b="1" dirty="0">
                <a:latin typeface="HY헤드라인M"/>
                <a:ea typeface="HY헤드라인M"/>
              </a:rPr>
              <a:t>운영체제 커널</a:t>
            </a:r>
            <a:endParaRPr lang="en-US" altLang="ko-KR" sz="4800" b="1" dirty="0">
              <a:latin typeface="HY헤드라인M"/>
              <a:ea typeface="HY헤드라인M"/>
            </a:endParaRPr>
          </a:p>
        </p:txBody>
      </p:sp>
      <p:pic>
        <p:nvPicPr>
          <p:cNvPr id="2050" name="Picture 2" descr="한국산업기술대학교, 한국공학대학교로 교명 변경하고 비전 선포식 개최-아이씨엔매거진">
            <a:extLst>
              <a:ext uri="{FF2B5EF4-FFF2-40B4-BE49-F238E27FC236}">
                <a16:creationId xmlns:a16="http://schemas.microsoft.com/office/drawing/2014/main" id="{7E8C4C53-107D-6AFD-66B5-0628321DC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228601"/>
            <a:ext cx="2340864" cy="75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부제목 2">
            <a:extLst>
              <a:ext uri="{FF2B5EF4-FFF2-40B4-BE49-F238E27FC236}">
                <a16:creationId xmlns:a16="http://schemas.microsoft.com/office/drawing/2014/main" id="{1BB59771-5702-CD3B-1CE0-1CB4FE508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0427"/>
            <a:ext cx="10052304" cy="2499360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2026-04-01</a:t>
            </a:r>
          </a:p>
          <a:p>
            <a:pPr lvl="0">
              <a:defRPr/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이희준</a:t>
            </a:r>
            <a:endParaRPr lang="ko-KR" altLang="en-US" sz="20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lvl="0">
              <a:defRPr/>
            </a:pPr>
            <a:r>
              <a:rPr lang="en-US" altLang="ko-KR" sz="2000" b="0" i="0" dirty="0">
                <a:solidFill>
                  <a:schemeClr val="tx1"/>
                </a:solidFill>
                <a:effectLst/>
                <a:highlight>
                  <a:srgbClr val="FDFDFD"/>
                </a:highlight>
                <a:latin typeface="+mj-ea"/>
                <a:ea typeface="+mj-ea"/>
              </a:rPr>
              <a:t>Dept. of IT Semiconductor Convergence Engineering, TUK</a:t>
            </a: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6275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9842-0CBE-616E-0E12-41FD9955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F39505-A37A-FCCA-61FC-3B256CDF0E4C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6FCC5F-397B-AB85-5424-63A5617E2DFE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573CC4-C587-F9E9-6C12-71AF3581FA9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5B2225-E768-3E82-E60B-ADCE9B622D1A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운영체제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(OS)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7F9B8F-0801-13CD-180F-2A8AFB053B8C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운영체제란 무엇인가</a:t>
            </a:r>
            <a:r>
              <a:rPr lang="en-US" altLang="ko-KR" sz="2400" b="1" dirty="0"/>
              <a:t>?</a:t>
            </a:r>
            <a:endParaRPr lang="ko-KR" alt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A8081-E509-7BF4-431D-2B67BF6D8EB0}"/>
              </a:ext>
            </a:extLst>
          </p:cNvPr>
          <p:cNvSpPr txBox="1"/>
          <p:nvPr/>
        </p:nvSpPr>
        <p:spPr>
          <a:xfrm>
            <a:off x="4477612" y="6088494"/>
            <a:ext cx="3236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1. OS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605C0-17C2-32BB-D56C-A308A853A84F}"/>
              </a:ext>
            </a:extLst>
          </p:cNvPr>
          <p:cNvSpPr txBox="1"/>
          <p:nvPr/>
        </p:nvSpPr>
        <p:spPr>
          <a:xfrm>
            <a:off x="305273" y="1254369"/>
            <a:ext cx="11390337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운영체제는 </a:t>
            </a:r>
            <a:r>
              <a:rPr lang="ko-KR" altLang="en-US" b="1" dirty="0"/>
              <a:t>사용자와 하드웨어 사이를 연결하는 소프트웨어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프로그램 실행</a:t>
            </a:r>
            <a:r>
              <a:rPr lang="en-US" altLang="ko-KR" b="1" dirty="0"/>
              <a:t>, </a:t>
            </a:r>
            <a:r>
              <a:rPr lang="ko-KR" altLang="en-US" b="1" dirty="0"/>
              <a:t>자원 관리</a:t>
            </a:r>
            <a:r>
              <a:rPr lang="en-US" altLang="ko-KR" b="1" dirty="0"/>
              <a:t>, </a:t>
            </a:r>
            <a:r>
              <a:rPr lang="ko-KR" altLang="en-US" b="1" dirty="0"/>
              <a:t>사용 편의성 </a:t>
            </a:r>
            <a:r>
              <a:rPr lang="ko-KR" altLang="en-US" dirty="0"/>
              <a:t>제공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CPU, </a:t>
            </a:r>
            <a:r>
              <a:rPr lang="ko-KR" altLang="en-US" b="1" dirty="0"/>
              <a:t>메모리</a:t>
            </a:r>
            <a:r>
              <a:rPr lang="en-US" altLang="ko-KR" b="1" dirty="0"/>
              <a:t>, </a:t>
            </a:r>
            <a:r>
              <a:rPr lang="ko-KR" altLang="en-US" b="1" dirty="0"/>
              <a:t>디스크</a:t>
            </a:r>
            <a:r>
              <a:rPr lang="en-US" altLang="ko-KR" b="1" dirty="0"/>
              <a:t>, </a:t>
            </a:r>
            <a:r>
              <a:rPr lang="ko-KR" altLang="en-US" b="1" dirty="0"/>
              <a:t>입출력 장치</a:t>
            </a:r>
            <a:r>
              <a:rPr lang="ko-KR" altLang="en-US" dirty="0"/>
              <a:t>를 효율적으로 관리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운영체제의 목표는 </a:t>
            </a:r>
            <a:r>
              <a:rPr lang="ko-KR" altLang="en-US" b="1" dirty="0"/>
              <a:t>성능</a:t>
            </a:r>
            <a:r>
              <a:rPr lang="en-US" altLang="ko-KR" b="1" dirty="0"/>
              <a:t>, </a:t>
            </a:r>
            <a:r>
              <a:rPr lang="ko-KR" altLang="en-US" b="1" dirty="0"/>
              <a:t>편의성</a:t>
            </a:r>
            <a:r>
              <a:rPr lang="en-US" altLang="ko-KR" b="1" dirty="0"/>
              <a:t>, </a:t>
            </a:r>
            <a:r>
              <a:rPr lang="ko-KR" altLang="en-US" b="1" dirty="0"/>
              <a:t>자원 활용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D527E9-CD5E-AAB2-8C1B-C6EFFF002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854" y="2599953"/>
            <a:ext cx="4950291" cy="33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3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9DB0-D68B-0D58-4956-8642202D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DF7FEC-E7AD-9A53-A7B8-B7D6F95C16A8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959E33-CAAF-59CE-65F2-A4B627C317CE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22B964-C110-905D-513A-B4027CA85F4A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E0CBBF-7354-96E7-DAD1-779DF3360396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운영체제의 계층 구조와 모드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FC0B43-E3CA-E087-ECAE-276D944D1716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User Mode &amp; Kernel Mode</a:t>
            </a:r>
            <a:endParaRPr lang="ko-KR" alt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39FD2-1BCA-461D-7581-8A8C542B7A7B}"/>
              </a:ext>
            </a:extLst>
          </p:cNvPr>
          <p:cNvSpPr txBox="1"/>
          <p:nvPr/>
        </p:nvSpPr>
        <p:spPr>
          <a:xfrm>
            <a:off x="3411113" y="5742157"/>
            <a:ext cx="5369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2. User Mode &amp; Kernel Mode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006CA-328D-5FAF-5BAD-501E2FFFD3E4}"/>
              </a:ext>
            </a:extLst>
          </p:cNvPr>
          <p:cNvSpPr txBox="1"/>
          <p:nvPr/>
        </p:nvSpPr>
        <p:spPr>
          <a:xfrm>
            <a:off x="305273" y="1254369"/>
            <a:ext cx="11390337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운영체제는 프로세스가 실행되는 모드를 </a:t>
            </a:r>
            <a:r>
              <a:rPr lang="ko-KR" altLang="en-US" b="1" dirty="0"/>
              <a:t>사용자 모드</a:t>
            </a:r>
            <a:r>
              <a:rPr lang="ko-KR" altLang="en-US" dirty="0"/>
              <a:t>와 </a:t>
            </a:r>
            <a:r>
              <a:rPr lang="ko-KR" altLang="en-US" b="1" dirty="0"/>
              <a:t>커널 모드</a:t>
            </a:r>
            <a:r>
              <a:rPr lang="ko-KR" altLang="en-US" dirty="0"/>
              <a:t>로 구분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시스템 자원을 보호하고 프로세스 간 간섭을 방지하기 위한 메커니즘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User Mode </a:t>
            </a:r>
            <a:r>
              <a:rPr lang="en-US" altLang="ko-KR" dirty="0"/>
              <a:t>: </a:t>
            </a:r>
            <a:r>
              <a:rPr lang="ko-KR" altLang="en-US" dirty="0"/>
              <a:t>사용자가 접근할 수 있는 영역을 제한적으로 두고</a:t>
            </a:r>
            <a:r>
              <a:rPr lang="en-US" altLang="ko-KR" dirty="0"/>
              <a:t>, </a:t>
            </a:r>
            <a:r>
              <a:rPr lang="ko-KR" altLang="en-US" dirty="0"/>
              <a:t>프로그램의 자원에 침범하지 못하는 모드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Kernel mode</a:t>
            </a:r>
            <a:r>
              <a:rPr lang="en-US" altLang="ko-KR" dirty="0"/>
              <a:t> : </a:t>
            </a:r>
            <a:r>
              <a:rPr lang="ko-KR" altLang="en-US" dirty="0"/>
              <a:t>모든 자원</a:t>
            </a:r>
            <a:r>
              <a:rPr lang="en-US" altLang="ko-KR" dirty="0"/>
              <a:t>(</a:t>
            </a:r>
            <a:r>
              <a:rPr lang="ko-KR" altLang="en-US" dirty="0"/>
              <a:t>드라이버</a:t>
            </a:r>
            <a:r>
              <a:rPr lang="en-US" altLang="ko-KR" dirty="0"/>
              <a:t>, </a:t>
            </a:r>
            <a:r>
              <a:rPr lang="ko-KR" altLang="en-US" dirty="0"/>
              <a:t>메모리</a:t>
            </a:r>
            <a:r>
              <a:rPr lang="en-US" altLang="ko-KR" dirty="0"/>
              <a:t>, CPU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접근</a:t>
            </a:r>
            <a:r>
              <a:rPr lang="en-US" altLang="ko-KR" dirty="0"/>
              <a:t>, </a:t>
            </a:r>
            <a:r>
              <a:rPr lang="ko-KR" altLang="en-US" dirty="0"/>
              <a:t>명령 가능한 모드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2050" name="Picture 2" descr="운영체제 - 유저 모드와 커널 모드">
            <a:extLst>
              <a:ext uri="{FF2B5EF4-FFF2-40B4-BE49-F238E27FC236}">
                <a16:creationId xmlns:a16="http://schemas.microsoft.com/office/drawing/2014/main" id="{4A84F449-3865-B7B3-DB06-EDF71C9D4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3" y="2809038"/>
            <a:ext cx="3989459" cy="268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48FBCAC-1C19-7590-AA95-DC725A24B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355" y="2809038"/>
            <a:ext cx="7406104" cy="267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492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6A1C-0C4B-40AE-FBB7-24023AFD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5348D1-BB6B-81F8-3E27-99BB8235889E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ACA94D-4434-4577-E8E3-F86388A4A1F7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E3450A-8F60-0439-327F-2CC12AF39A43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8124B1-A5C7-715E-9A4C-AA9962C25BC6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커널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90FAF-2121-7ACF-5CF8-7DB69F72D617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커널</a:t>
            </a:r>
            <a:r>
              <a:rPr lang="en-US" altLang="ko-KR" sz="2400" b="1" dirty="0"/>
              <a:t>(Kernel)</a:t>
            </a:r>
            <a:r>
              <a:rPr lang="ko-KR" altLang="en-US" sz="2400" b="1" dirty="0"/>
              <a:t>의 개념과 역할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36A58-6BB3-23AE-249B-71BCC8371258}"/>
              </a:ext>
            </a:extLst>
          </p:cNvPr>
          <p:cNvSpPr txBox="1"/>
          <p:nvPr/>
        </p:nvSpPr>
        <p:spPr>
          <a:xfrm>
            <a:off x="3411113" y="5742157"/>
            <a:ext cx="5369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3. Kernel hierarchy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3A4E7-B231-551E-4534-55FD223B127D}"/>
              </a:ext>
            </a:extLst>
          </p:cNvPr>
          <p:cNvSpPr txBox="1"/>
          <p:nvPr/>
        </p:nvSpPr>
        <p:spPr>
          <a:xfrm>
            <a:off x="305273" y="1254369"/>
            <a:ext cx="11390337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커널은 운영체제의 </a:t>
            </a:r>
            <a:r>
              <a:rPr lang="ko-KR" altLang="en-US" b="1" dirty="0"/>
              <a:t>핵심 소프트웨어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시스템이 부팅되면 가장 먼저 메모리에 올라오는 핵심프로그램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메모리에 상주하면서 </a:t>
            </a:r>
            <a:r>
              <a:rPr lang="ko-KR" altLang="en-US" b="1" dirty="0"/>
              <a:t>하드웨어와 자원을 직접 관리</a:t>
            </a:r>
            <a:endParaRPr lang="en-US" altLang="ko-KR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729D0CF-D0CE-A350-408C-1FECF1633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232" y="2736896"/>
            <a:ext cx="4843536" cy="289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60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B268-CA8A-C658-1989-6064C6D6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307755-82CB-883C-1EAF-0AE3F4491095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F74610-B53E-5128-DAEC-CDBE2F9C5792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030403-F9EB-3EA4-1C60-BCE18BD7597C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A23CB4-5DF6-F623-8052-7837A34D7A3B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쉘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(Shell)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5E2417-B1FE-E72A-2075-70AD7E698004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쉘</a:t>
            </a:r>
            <a:r>
              <a:rPr lang="en-US" altLang="ko-KR" sz="2400" b="1" dirty="0"/>
              <a:t>(Shell)</a:t>
            </a:r>
            <a:r>
              <a:rPr lang="ko-KR" altLang="en-US" sz="2400" b="1" dirty="0"/>
              <a:t>의 개념과 역할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68256-C388-499E-A677-92C5CA629AB2}"/>
              </a:ext>
            </a:extLst>
          </p:cNvPr>
          <p:cNvSpPr txBox="1"/>
          <p:nvPr/>
        </p:nvSpPr>
        <p:spPr>
          <a:xfrm>
            <a:off x="390704" y="5682595"/>
            <a:ext cx="5369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4. </a:t>
            </a:r>
            <a:r>
              <a:rPr lang="en-US" altLang="ko-KR" b="1" dirty="0" err="1"/>
              <a:t>cmd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9D337-5893-5AC3-B5E3-5E353127A47D}"/>
              </a:ext>
            </a:extLst>
          </p:cNvPr>
          <p:cNvSpPr txBox="1"/>
          <p:nvPr/>
        </p:nvSpPr>
        <p:spPr>
          <a:xfrm>
            <a:off x="305273" y="1254369"/>
            <a:ext cx="1139033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쉘</a:t>
            </a:r>
            <a:r>
              <a:rPr lang="en-US" altLang="ko-KR" dirty="0"/>
              <a:t>(Shell)</a:t>
            </a:r>
            <a:r>
              <a:rPr lang="ko-KR" altLang="en-US" dirty="0"/>
              <a:t>은 운영체제상에서 사용자가 입력하는 명령을 읽고 </a:t>
            </a:r>
            <a:r>
              <a:rPr lang="ko-KR" altLang="en-US" b="1" dirty="0"/>
              <a:t>해석하여 실행해주는 프로그램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운영체제의 </a:t>
            </a:r>
            <a:r>
              <a:rPr lang="ko-KR" altLang="en-US" b="1" dirty="0"/>
              <a:t>커널과 사용자 사이</a:t>
            </a:r>
            <a:r>
              <a:rPr lang="ko-KR" altLang="en-US" dirty="0"/>
              <a:t>를 이어주는 역할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87B2EC-1BFC-334C-3485-1CA96ED9A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4" y="2248370"/>
            <a:ext cx="5258170" cy="3371867"/>
          </a:xfrm>
          <a:prstGeom prst="rect">
            <a:avLst/>
          </a:prstGeom>
        </p:spPr>
      </p:pic>
      <p:pic>
        <p:nvPicPr>
          <p:cNvPr id="2050" name="Picture 2" descr="Bash Scripting - Working of Bash Scripting - GeeksforGeeks">
            <a:extLst>
              <a:ext uri="{FF2B5EF4-FFF2-40B4-BE49-F238E27FC236}">
                <a16:creationId xmlns:a16="http://schemas.microsoft.com/office/drawing/2014/main" id="{E23CE811-05AC-D0D9-910C-71C5DBC22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729" y="2260788"/>
            <a:ext cx="5517881" cy="335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627535-85B6-71F6-6443-DCA6ED8639D2}"/>
              </a:ext>
            </a:extLst>
          </p:cNvPr>
          <p:cNvSpPr txBox="1"/>
          <p:nvPr/>
        </p:nvSpPr>
        <p:spPr>
          <a:xfrm>
            <a:off x="6251782" y="5682595"/>
            <a:ext cx="5369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5. bash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49055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4507-19F9-FD0C-4AF2-7055ED8C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FC6BEC-219C-D388-323B-4347B7B6F113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5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E64BD2-AECE-A8A9-C28A-FC310F298677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02CE2E-7750-ECDD-19E9-467935EEB014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577130-ABE6-32BD-442C-0A9E71C5E530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쉘과 커널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7F2F6-2C2F-946D-41C5-514890ECEA6A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커널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흐름도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A1B0D-5523-A669-0C2C-F897DF6E8B90}"/>
              </a:ext>
            </a:extLst>
          </p:cNvPr>
          <p:cNvSpPr txBox="1"/>
          <p:nvPr/>
        </p:nvSpPr>
        <p:spPr>
          <a:xfrm>
            <a:off x="396715" y="1627168"/>
            <a:ext cx="11390337" cy="378565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400" dirty="0"/>
              <a:t>사용자가 쉘에 </a:t>
            </a:r>
            <a:r>
              <a:rPr lang="en-US" altLang="ko-KR" sz="2400" dirty="0"/>
              <a:t>ls </a:t>
            </a:r>
            <a:r>
              <a:rPr lang="ko-KR" altLang="en-US" sz="2400" dirty="0"/>
              <a:t>입력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쉘이 명령을 해석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쉘이 </a:t>
            </a:r>
            <a:r>
              <a:rPr lang="en-US" altLang="ko-KR" sz="2400" dirty="0"/>
              <a:t>ls </a:t>
            </a:r>
            <a:r>
              <a:rPr lang="ko-KR" altLang="en-US" sz="2400" dirty="0"/>
              <a:t>프로그램 실행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파일 목록을 읽으려고 커널에 요청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이때 </a:t>
            </a:r>
            <a:r>
              <a:rPr lang="en-US" altLang="ko-KR" sz="2400" dirty="0"/>
              <a:t>system call </a:t>
            </a:r>
            <a:r>
              <a:rPr lang="ko-KR" altLang="en-US" sz="2400" dirty="0"/>
              <a:t>발생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en-US" altLang="ko-KR" sz="2400" dirty="0"/>
              <a:t>CPU </a:t>
            </a:r>
            <a:r>
              <a:rPr lang="ko-KR" altLang="en-US" sz="2400" dirty="0"/>
              <a:t>가 </a:t>
            </a:r>
            <a:r>
              <a:rPr lang="en-US" altLang="ko-KR" sz="2400" dirty="0"/>
              <a:t>user mode </a:t>
            </a:r>
            <a:r>
              <a:rPr lang="ko-KR" altLang="en-US" sz="2400" dirty="0"/>
              <a:t>→ </a:t>
            </a:r>
            <a:r>
              <a:rPr lang="en-US" altLang="ko-KR" sz="2400" dirty="0"/>
              <a:t>kernel mode </a:t>
            </a:r>
            <a:r>
              <a:rPr lang="ko-KR" altLang="en-US" sz="2400" dirty="0"/>
              <a:t>로 전환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커널이 파일 시스템 접근 처리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결과 반환</a:t>
            </a:r>
            <a:endParaRPr lang="en-US" altLang="ko-KR" sz="2400" dirty="0"/>
          </a:p>
          <a:p>
            <a:pPr marL="342900" indent="-342900">
              <a:buAutoNum type="arabicPeriod"/>
            </a:pPr>
            <a:r>
              <a:rPr lang="ko-KR" altLang="en-US" sz="2400" dirty="0"/>
              <a:t>다시 </a:t>
            </a:r>
            <a:r>
              <a:rPr lang="en-US" altLang="ko-KR" sz="2400" dirty="0"/>
              <a:t>kernel mode </a:t>
            </a:r>
            <a:r>
              <a:rPr lang="ko-KR" altLang="en-US" sz="2400" dirty="0"/>
              <a:t>→ </a:t>
            </a:r>
            <a:r>
              <a:rPr lang="en-US" altLang="ko-KR" sz="2400" dirty="0"/>
              <a:t>user mode </a:t>
            </a:r>
          </a:p>
          <a:p>
            <a:pPr marL="342900" indent="-342900">
              <a:buAutoNum type="arabicPeriod"/>
            </a:pPr>
            <a:r>
              <a:rPr lang="ko-KR" altLang="en-US" sz="2400" dirty="0"/>
              <a:t>쉘이 결과를 화면에 출력</a:t>
            </a:r>
            <a:endParaRPr lang="en-US" altLang="ko-KR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9C019B-B500-4A61-B002-22401D35F1CA}"/>
              </a:ext>
            </a:extLst>
          </p:cNvPr>
          <p:cNvGrpSpPr/>
          <p:nvPr/>
        </p:nvGrpSpPr>
        <p:grpSpPr>
          <a:xfrm>
            <a:off x="6631110" y="3620351"/>
            <a:ext cx="5369773" cy="2917609"/>
            <a:chOff x="7353102" y="2761469"/>
            <a:chExt cx="5369773" cy="291760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39A70F-A748-4FA4-23FE-ADD980C9B8C7}"/>
                </a:ext>
              </a:extLst>
            </p:cNvPr>
            <p:cNvSpPr txBox="1"/>
            <p:nvPr/>
          </p:nvSpPr>
          <p:spPr>
            <a:xfrm>
              <a:off x="7353102" y="5309746"/>
              <a:ext cx="5369773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/>
                <a:t>그림 </a:t>
              </a:r>
              <a:r>
                <a:rPr lang="en-US" altLang="ko-KR" b="1" dirty="0"/>
                <a:t>7. ls </a:t>
              </a:r>
              <a:r>
                <a:rPr lang="ko-KR" altLang="en-US" b="1" dirty="0"/>
                <a:t>결과</a:t>
              </a:r>
            </a:p>
          </p:txBody>
        </p:sp>
        <p:pic>
          <p:nvPicPr>
            <p:cNvPr id="3074" name="Picture 2" descr="ls command">
              <a:extLst>
                <a:ext uri="{FF2B5EF4-FFF2-40B4-BE49-F238E27FC236}">
                  <a16:creationId xmlns:a16="http://schemas.microsoft.com/office/drawing/2014/main" id="{2EA34D75-382B-93F1-31EA-E005AEAD84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8042" y="2761469"/>
              <a:ext cx="4322802" cy="2431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6" name="Picture 4" descr="Difference Between Shell and Kernel in an Operating System">
            <a:extLst>
              <a:ext uri="{FF2B5EF4-FFF2-40B4-BE49-F238E27FC236}">
                <a16:creationId xmlns:a16="http://schemas.microsoft.com/office/drawing/2014/main" id="{BFBA1DFF-E2F8-1B09-B04C-6C23385DE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050" y="618846"/>
            <a:ext cx="4322802" cy="243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2EC056-D086-7F30-19C9-56EC5DC6FBAC}"/>
              </a:ext>
            </a:extLst>
          </p:cNvPr>
          <p:cNvSpPr txBox="1"/>
          <p:nvPr/>
        </p:nvSpPr>
        <p:spPr>
          <a:xfrm>
            <a:off x="6452564" y="3150720"/>
            <a:ext cx="5369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6. </a:t>
            </a:r>
            <a:r>
              <a:rPr lang="ko-KR" altLang="en-US" b="1" dirty="0"/>
              <a:t>시스템 흐름도</a:t>
            </a:r>
          </a:p>
        </p:txBody>
      </p:sp>
    </p:spTree>
    <p:extLst>
      <p:ext uri="{BB962C8B-B14F-4D97-AF65-F5344CB8AC3E}">
        <p14:creationId xmlns:p14="http://schemas.microsoft.com/office/powerpoint/2010/main" val="243328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5B4D-E6B3-38EA-FFF7-1D7CE422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38B34D-6965-3E30-7F76-F21DDE16FC4B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6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5CB06-0ACD-04FE-6219-70F4A5CCA0C8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C8751FD-63C1-69BA-AEB3-FFF5E3040BC9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3C519D-4352-B5D3-EDD8-5D168175EB36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Proecss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/ PCB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593F3-0257-21A1-9B76-225278CF9529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Process / PCB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FB07E-E81A-2AA8-8F92-CEDDDFAFD750}"/>
              </a:ext>
            </a:extLst>
          </p:cNvPr>
          <p:cNvSpPr txBox="1"/>
          <p:nvPr/>
        </p:nvSpPr>
        <p:spPr>
          <a:xfrm>
            <a:off x="305273" y="1254369"/>
            <a:ext cx="11390337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Process : </a:t>
            </a:r>
            <a:r>
              <a:rPr lang="ko-KR" altLang="en-US" dirty="0"/>
              <a:t>실행 중인 프로그램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PCB : </a:t>
            </a:r>
            <a:r>
              <a:rPr lang="ko-KR" altLang="en-US" dirty="0"/>
              <a:t>운영체제가 각 프로세스를 관리하기 위해 갖고 있는 정보 묶음</a:t>
            </a:r>
            <a:endParaRPr lang="en-US" altLang="ko-KR" dirty="0"/>
          </a:p>
        </p:txBody>
      </p:sp>
      <p:pic>
        <p:nvPicPr>
          <p:cNvPr id="4098" name="Picture 2" descr="Process Control Block | Process Attributes | Gate Vidyalay">
            <a:extLst>
              <a:ext uri="{FF2B5EF4-FFF2-40B4-BE49-F238E27FC236}">
                <a16:creationId xmlns:a16="http://schemas.microsoft.com/office/drawing/2014/main" id="{9265C270-1090-3413-50DE-4ED12D1D7B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57"/>
          <a:stretch>
            <a:fillRect/>
          </a:stretch>
        </p:blipFill>
        <p:spPr bwMode="auto">
          <a:xfrm>
            <a:off x="607957" y="2059297"/>
            <a:ext cx="2105025" cy="364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01FC97-1D29-DB57-DA7B-8E10F9EFC846}"/>
              </a:ext>
            </a:extLst>
          </p:cNvPr>
          <p:cNvSpPr txBox="1"/>
          <p:nvPr/>
        </p:nvSpPr>
        <p:spPr>
          <a:xfrm>
            <a:off x="-1024416" y="5707114"/>
            <a:ext cx="5369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7. Process control block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7CAD6-50AC-4DF4-9973-6D68B9A7C2F7}"/>
              </a:ext>
            </a:extLst>
          </p:cNvPr>
          <p:cNvSpPr txBox="1"/>
          <p:nvPr/>
        </p:nvSpPr>
        <p:spPr>
          <a:xfrm>
            <a:off x="2922836" y="2094363"/>
            <a:ext cx="7291616" cy="3416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PID : </a:t>
            </a:r>
            <a:r>
              <a:rPr lang="ko-KR" altLang="en-US" dirty="0"/>
              <a:t>프로세스 번호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Program counter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다음 실행할 명령어 위치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Process state : </a:t>
            </a:r>
            <a:r>
              <a:rPr lang="ko-KR" altLang="en-US" dirty="0"/>
              <a:t>프로세스 현재 상태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Priority : </a:t>
            </a:r>
            <a:r>
              <a:rPr lang="ko-KR" altLang="en-US" dirty="0"/>
              <a:t>우선순위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Open files : </a:t>
            </a:r>
            <a:r>
              <a:rPr lang="ko-KR" altLang="en-US" dirty="0"/>
              <a:t>현재 열어둔 파일 목록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Open devices : </a:t>
            </a:r>
            <a:r>
              <a:rPr lang="ko-KR" altLang="en-US" dirty="0"/>
              <a:t>현재 열어둔 장치 목록</a:t>
            </a:r>
            <a:endParaRPr lang="en-US" altLang="ko-KR" dirty="0"/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498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0F75E-B536-5F31-40CD-2A599FAC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A4846B-12D7-AAE1-5CA9-536B8C386567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7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237382-844D-C482-D7F6-7C00D348F57E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6C42B2-ABEC-3DBA-3AD0-1E04ED0B5CB9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665503-A36A-4CE5-9A46-EF875FB2D0D1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PCB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15342-EF9C-4732-DF96-864B826F7DA1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PCB ex)</a:t>
            </a:r>
            <a:endParaRPr lang="ko-KR" alt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378EF-D5AF-6F20-FABF-D923861C3EB9}"/>
              </a:ext>
            </a:extLst>
          </p:cNvPr>
          <p:cNvSpPr txBox="1"/>
          <p:nvPr/>
        </p:nvSpPr>
        <p:spPr>
          <a:xfrm>
            <a:off x="3161021" y="2059558"/>
            <a:ext cx="536977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그림 </a:t>
            </a:r>
            <a:r>
              <a:rPr lang="en-US" altLang="ko-KR" b="1" dirty="0"/>
              <a:t>8. </a:t>
            </a:r>
            <a:r>
              <a:rPr lang="ko-KR" altLang="en-US" b="1" dirty="0"/>
              <a:t>실행중인 </a:t>
            </a:r>
            <a:r>
              <a:rPr lang="en-US" altLang="ko-KR" b="1" dirty="0"/>
              <a:t>Process </a:t>
            </a:r>
            <a:r>
              <a:rPr lang="ko-KR" altLang="en-US" b="1" dirty="0"/>
              <a:t>들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1BC2DB-C68C-395F-3159-10D58177C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12" y="1198889"/>
            <a:ext cx="9259592" cy="838317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98E1A2-7E44-75FF-E5B7-4BADC0E93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117390"/>
              </p:ext>
            </p:extLst>
          </p:nvPr>
        </p:nvGraphicFramePr>
        <p:xfrm>
          <a:off x="69134" y="2467058"/>
          <a:ext cx="3806515" cy="401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515">
                  <a:extLst>
                    <a:ext uri="{9D8B030D-6E8A-4147-A177-3AD203B41FA5}">
                      <a16:colId xmlns:a16="http://schemas.microsoft.com/office/drawing/2014/main" val="278936638"/>
                    </a:ext>
                  </a:extLst>
                </a:gridCol>
              </a:tblGrid>
              <a:tr h="548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Youtube</a:t>
                      </a:r>
                      <a:r>
                        <a:rPr lang="en-US" altLang="ko-KR" dirty="0"/>
                        <a:t> music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589600"/>
                  </a:ext>
                </a:extLst>
              </a:tr>
              <a:tr h="548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PID : </a:t>
                      </a:r>
                      <a:r>
                        <a:rPr lang="en-US" altLang="ko-KR" sz="1400" dirty="0" err="1"/>
                        <a:t>Ym</a:t>
                      </a:r>
                      <a:r>
                        <a:rPr lang="ko-KR" altLang="en-US" sz="1400" dirty="0"/>
                        <a:t> 프로세스 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670790"/>
                  </a:ext>
                </a:extLst>
              </a:tr>
              <a:tr h="548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Program counter : </a:t>
                      </a:r>
                      <a:r>
                        <a:rPr lang="ko-KR" altLang="en-US" sz="1400" dirty="0"/>
                        <a:t>재생관련 위치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034024"/>
                  </a:ext>
                </a:extLst>
              </a:tr>
              <a:tr h="548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State : running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915159"/>
                  </a:ext>
                </a:extLst>
              </a:tr>
              <a:tr h="721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General purpose Registers : </a:t>
                      </a:r>
                      <a:r>
                        <a:rPr lang="ko-KR" altLang="en-US" sz="1400" dirty="0"/>
                        <a:t>오디오 처리 중간값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352283"/>
                  </a:ext>
                </a:extLst>
              </a:tr>
              <a:tr h="548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Open devices : </a:t>
                      </a:r>
                      <a:r>
                        <a:rPr lang="ko-KR" altLang="en-US" sz="1400" dirty="0"/>
                        <a:t>오디오 장치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스피커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145763"/>
                  </a:ext>
                </a:extLst>
              </a:tr>
              <a:tr h="548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…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6926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693F7A1-C833-1C97-A59C-FB7309544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150488"/>
              </p:ext>
            </p:extLst>
          </p:nvPr>
        </p:nvGraphicFramePr>
        <p:xfrm>
          <a:off x="4226887" y="2467058"/>
          <a:ext cx="3806516" cy="4012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516">
                  <a:extLst>
                    <a:ext uri="{9D8B030D-6E8A-4147-A177-3AD203B41FA5}">
                      <a16:colId xmlns:a16="http://schemas.microsoft.com/office/drawing/2014/main" val="278936638"/>
                    </a:ext>
                  </a:extLst>
                </a:gridCol>
              </a:tblGrid>
              <a:tr h="524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Powerpoint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589600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PID : ppt</a:t>
                      </a:r>
                      <a:r>
                        <a:rPr lang="ko-KR" altLang="en-US" sz="1400" dirty="0"/>
                        <a:t> 프로세스 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670790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Program counter : </a:t>
                      </a:r>
                      <a:r>
                        <a:rPr lang="ko-KR" altLang="en-US" sz="1400" dirty="0"/>
                        <a:t>슬라이드 편집 작업의 다음 실행 위치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034024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State : running -&gt; ready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915159"/>
                  </a:ext>
                </a:extLst>
              </a:tr>
              <a:tr h="689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General purpose Registers : </a:t>
                      </a:r>
                      <a:r>
                        <a:rPr lang="ko-KR" altLang="en-US" sz="1400" dirty="0"/>
                        <a:t>편집 작업  중간값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352283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Open devices : </a:t>
                      </a:r>
                      <a:r>
                        <a:rPr lang="ko-KR" altLang="en-US" sz="1400" dirty="0"/>
                        <a:t>모니터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키보드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마우스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145763"/>
                  </a:ext>
                </a:extLst>
              </a:tr>
              <a:tr h="524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…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6926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86E54C-BF33-A58D-C589-36371D2B8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770856"/>
              </p:ext>
            </p:extLst>
          </p:nvPr>
        </p:nvGraphicFramePr>
        <p:xfrm>
          <a:off x="8384641" y="2483229"/>
          <a:ext cx="3805200" cy="400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5200">
                  <a:extLst>
                    <a:ext uri="{9D8B030D-6E8A-4147-A177-3AD203B41FA5}">
                      <a16:colId xmlns:a16="http://schemas.microsoft.com/office/drawing/2014/main" val="278936638"/>
                    </a:ext>
                  </a:extLst>
                </a:gridCol>
              </a:tblGrid>
              <a:tr h="546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Comet browser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589600"/>
                  </a:ext>
                </a:extLst>
              </a:tr>
              <a:tr h="546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PID : Comet</a:t>
                      </a:r>
                      <a:r>
                        <a:rPr lang="ko-KR" altLang="en-US" sz="1400" dirty="0"/>
                        <a:t> 프로세스 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670790"/>
                  </a:ext>
                </a:extLst>
              </a:tr>
              <a:tr h="546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Program counter : </a:t>
                      </a:r>
                      <a:r>
                        <a:rPr lang="ko-KR" altLang="en-US" sz="1400" dirty="0"/>
                        <a:t>검색 요청 결과 코드 위치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034024"/>
                  </a:ext>
                </a:extLst>
              </a:tr>
              <a:tr h="546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State : </a:t>
                      </a:r>
                      <a:r>
                        <a:rPr lang="en-US" altLang="ko-KR" sz="1400" dirty="0" err="1"/>
                        <a:t>wating</a:t>
                      </a:r>
                      <a:r>
                        <a:rPr lang="en-US" altLang="ko-KR" sz="1400" dirty="0"/>
                        <a:t> -&gt; running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915159"/>
                  </a:ext>
                </a:extLst>
              </a:tr>
              <a:tr h="7190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General purpose Registers : </a:t>
                      </a:r>
                      <a:r>
                        <a:rPr lang="ko-KR" altLang="en-US" sz="1400" dirty="0"/>
                        <a:t>검색 요청 처리 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352283"/>
                  </a:ext>
                </a:extLst>
              </a:tr>
              <a:tr h="546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Open devices : </a:t>
                      </a:r>
                      <a:r>
                        <a:rPr lang="ko-KR" altLang="en-US" sz="1400" dirty="0"/>
                        <a:t>모니터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키보드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마우스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네트워크 장치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145763"/>
                  </a:ext>
                </a:extLst>
              </a:tr>
              <a:tr h="5468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…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69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14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104B-F9BD-A3D3-FD0D-07164BEC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0ACE77-E7FB-2E3E-0D70-9D9B0EDE2B5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57FAC3-987A-6353-8E95-91289675CA8D}"/>
              </a:ext>
            </a:extLst>
          </p:cNvPr>
          <p:cNvSpPr/>
          <p:nvPr/>
        </p:nvSpPr>
        <p:spPr>
          <a:xfrm>
            <a:off x="0" y="466344"/>
            <a:ext cx="12192000" cy="6071616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4AED68-A221-6DC9-A151-DB9CCD0C5B0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C3C704-EBE9-9CF7-47E8-8D7FA279FFFE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마무리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34F788-45E3-AFE7-A183-2E9882012D58}"/>
              </a:ext>
            </a:extLst>
          </p:cNvPr>
          <p:cNvSpPr txBox="1">
            <a:spLocks/>
          </p:cNvSpPr>
          <p:nvPr/>
        </p:nvSpPr>
        <p:spPr>
          <a:xfrm>
            <a:off x="1615440" y="1497403"/>
            <a:ext cx="9144000" cy="1224279"/>
          </a:xfrm>
          <a:prstGeom prst="rect">
            <a:avLst/>
          </a:prstGeom>
          <a:solidFill>
            <a:srgbClr val="EFF3F8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000" b="1" dirty="0">
                <a:solidFill>
                  <a:srgbClr val="000000"/>
                </a:solidFill>
                <a:latin typeface="+mj-ea"/>
              </a:rPr>
              <a:t>Thank you</a:t>
            </a:r>
            <a:endParaRPr lang="ko-KR" altLang="en-US" sz="5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A5AD07-7BFF-3BF1-6FF8-D2469E83F69C}"/>
              </a:ext>
            </a:extLst>
          </p:cNvPr>
          <p:cNvSpPr txBox="1">
            <a:spLocks/>
          </p:cNvSpPr>
          <p:nvPr/>
        </p:nvSpPr>
        <p:spPr>
          <a:xfrm>
            <a:off x="1524000" y="3752741"/>
            <a:ext cx="9144000" cy="249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2026-04-01</a:t>
            </a:r>
          </a:p>
          <a:p>
            <a:pPr algn="ctr">
              <a:defRPr/>
            </a:pPr>
            <a:endParaRPr lang="en-US" altLang="ko-KR" sz="2000" dirty="0">
              <a:latin typeface="+mj-ea"/>
              <a:ea typeface="+mj-ea"/>
            </a:endParaRPr>
          </a:p>
          <a:p>
            <a:pPr marL="0" indent="0" algn="ctr">
              <a:buNone/>
              <a:defRPr/>
            </a:pPr>
            <a:r>
              <a:rPr lang="ko-KR" altLang="en-US" sz="2000" b="1" dirty="0">
                <a:latin typeface="+mj-ea"/>
                <a:ea typeface="+mj-ea"/>
              </a:rPr>
              <a:t>이희준</a:t>
            </a:r>
            <a:endParaRPr lang="en-US" altLang="ko-KR" sz="2000" dirty="0">
              <a:latin typeface="+mj-ea"/>
              <a:ea typeface="+mj-ea"/>
            </a:endParaRP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Dept. of IT Semiconductor Convergence Engineering, TUK</a:t>
            </a:r>
          </a:p>
          <a:p>
            <a:pPr marL="0" indent="0" algn="ctr">
              <a:buNone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02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6518</TotalTime>
  <Words>515</Words>
  <Application>Microsoft Office PowerPoint</Application>
  <PresentationFormat>와이드스크린</PresentationFormat>
  <Paragraphs>112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이희준(2025811065)</dc:creator>
  <cp:lastModifiedBy>이희준(2025811065)</cp:lastModifiedBy>
  <cp:revision>943</cp:revision>
  <dcterms:created xsi:type="dcterms:W3CDTF">2025-05-16T02:02:27Z</dcterms:created>
  <dcterms:modified xsi:type="dcterms:W3CDTF">2026-04-01T06:09:42Z</dcterms:modified>
  <cp:version/>
</cp:coreProperties>
</file>